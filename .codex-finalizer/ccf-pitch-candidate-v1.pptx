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67bf4d8490424f" /><Relationship Type="http://schemas.openxmlformats.org/officeDocument/2006/relationships/extended-properties" Target="/docProps/app.xml" Id="Rf447a3e9c519462b" /><Relationship Type="http://schemas.openxmlformats.org/officeDocument/2006/relationships/officeDocument" Target="/ppt/presentation.xml" Id="Rdb139a0982744a06" /></Relationships>
</file>

<file path=ppt/presentation.xml><?xml version="1.0" encoding="utf-8"?>
<p:presentation xmlns:p="http://schemas.openxmlformats.org/presentationml/2006/main">
  <p:sldMasterIdLst>
    <p:sldMasterId xmlns:r="http://schemas.openxmlformats.org/officeDocument/2006/relationships" id="2147483648" r:id="R1541fd54811a4240"/>
  </p:sldMasterIdLst>
  <p:notesMasterIdLst>
    <p:notesMasterId xmlns:r="http://schemas.openxmlformats.org/officeDocument/2006/relationships" r:id="Rf2da8e9c6c634269"/>
  </p:notesMasterIdLst>
  <p:sldIdLst>
    <p:sldId xmlns:r="http://schemas.openxmlformats.org/officeDocument/2006/relationships" id="256" r:id="R5cae53f6b1594e75"/>
    <p:sldId xmlns:r="http://schemas.openxmlformats.org/officeDocument/2006/relationships" id="257" r:id="R601693231cbc499d"/>
    <p:sldId xmlns:r="http://schemas.openxmlformats.org/officeDocument/2006/relationships" id="258" r:id="Rab29f2bbd5464801"/>
    <p:sldId xmlns:r="http://schemas.openxmlformats.org/officeDocument/2006/relationships" id="259" r:id="Rb6b3d2a1b3a94232"/>
    <p:sldId xmlns:r="http://schemas.openxmlformats.org/officeDocument/2006/relationships" id="260" r:id="Rd02cbd692fec4aa6"/>
    <p:sldId xmlns:r="http://schemas.openxmlformats.org/officeDocument/2006/relationships" id="261" r:id="R1034210d62914d0f"/>
    <p:sldId xmlns:r="http://schemas.openxmlformats.org/officeDocument/2006/relationships" id="262" r:id="R3011f0e5313c49a8"/>
    <p:sldId xmlns:r="http://schemas.openxmlformats.org/officeDocument/2006/relationships" id="263" r:id="R872ada18087c43f8"/>
    <p:sldId xmlns:r="http://schemas.openxmlformats.org/officeDocument/2006/relationships" id="264" r:id="R88e07fa5bd054d88"/>
    <p:sldId xmlns:r="http://schemas.openxmlformats.org/officeDocument/2006/relationships" id="265" r:id="R8fb395a67809419d"/>
    <p:sldId xmlns:r="http://schemas.openxmlformats.org/officeDocument/2006/relationships" id="266" r:id="Rb5eecb704d2a4a6b"/>
    <p:sldId xmlns:r="http://schemas.openxmlformats.org/officeDocument/2006/relationships" id="267" r:id="R7906952981dd4de2"/>
    <p:sldId xmlns:r="http://schemas.openxmlformats.org/officeDocument/2006/relationships" id="268" r:id="R03a82cdd0dc24c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8bdf82ed3c4a91" /><Relationship Type="http://schemas.openxmlformats.org/officeDocument/2006/relationships/slideMaster" Target="/ppt/slideMasters/slideMaster1.xml" Id="R1541fd54811a4240" /><Relationship Type="http://schemas.openxmlformats.org/officeDocument/2006/relationships/notesMaster" Target="/ppt/notesMasters/notesMaster1.xml" Id="Rf2da8e9c6c634269" /><Relationship Type="http://schemas.openxmlformats.org/officeDocument/2006/relationships/presProps" Target="/ppt/presProps.xml" Id="R76c9547880f74ed3" /><Relationship Type="http://schemas.openxmlformats.org/officeDocument/2006/relationships/tableStyles" Target="/ppt/tableStyles.xml" Id="R028e737390484154" /><Relationship Type="http://schemas.openxmlformats.org/officeDocument/2006/relationships/slide" Target="/ppt/slides/slide1.xml" Id="R5cae53f6b1594e75" /><Relationship Type="http://schemas.openxmlformats.org/officeDocument/2006/relationships/slide" Target="/ppt/slides/slide2.xml" Id="R601693231cbc499d" /><Relationship Type="http://schemas.openxmlformats.org/officeDocument/2006/relationships/slide" Target="/ppt/slides/slide3.xml" Id="Rab29f2bbd5464801" /><Relationship Type="http://schemas.openxmlformats.org/officeDocument/2006/relationships/slide" Target="/ppt/slides/slide4.xml" Id="Rb6b3d2a1b3a94232" /><Relationship Type="http://schemas.openxmlformats.org/officeDocument/2006/relationships/slide" Target="/ppt/slides/slide5.xml" Id="Rd02cbd692fec4aa6" /><Relationship Type="http://schemas.openxmlformats.org/officeDocument/2006/relationships/slide" Target="/ppt/slides/slide6.xml" Id="R1034210d62914d0f" /><Relationship Type="http://schemas.openxmlformats.org/officeDocument/2006/relationships/slide" Target="/ppt/slides/slide7.xml" Id="R3011f0e5313c49a8" /><Relationship Type="http://schemas.openxmlformats.org/officeDocument/2006/relationships/slide" Target="/ppt/slides/slide8.xml" Id="R872ada18087c43f8" /><Relationship Type="http://schemas.openxmlformats.org/officeDocument/2006/relationships/slide" Target="/ppt/slides/slide9.xml" Id="R88e07fa5bd054d88" /><Relationship Type="http://schemas.openxmlformats.org/officeDocument/2006/relationships/slide" Target="/ppt/slides/slide10.xml" Id="R8fb395a67809419d" /><Relationship Type="http://schemas.openxmlformats.org/officeDocument/2006/relationships/slide" Target="/ppt/slides/slide11.xml" Id="Rb5eecb704d2a4a6b" /><Relationship Type="http://schemas.openxmlformats.org/officeDocument/2006/relationships/slide" Target="/ppt/slides/slide12.xml" Id="R7906952981dd4de2" /><Relationship Type="http://schemas.openxmlformats.org/officeDocument/2006/relationships/slide" Target="/ppt/slides/slide13.xml" Id="R03a82cdd0dc24c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19cd4f274a42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c78b1c7d22476b" /><Relationship Type="http://schemas.openxmlformats.org/officeDocument/2006/relationships/notesMaster" Target="/ppt/notesMasters/notesMaster1.xml" Id="R8a9b06f32f0b4f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fec9196a004c88" /><Relationship Type="http://schemas.openxmlformats.org/officeDocument/2006/relationships/notesMaster" Target="/ppt/notesMasters/notesMaster1.xml" Id="R7184d58d873547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93350ba6fb49e6" /><Relationship Type="http://schemas.openxmlformats.org/officeDocument/2006/relationships/notesMaster" Target="/ppt/notesMasters/notesMaster1.xml" Id="Raad292e8307a41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5323a7f7d44b9a" /><Relationship Type="http://schemas.openxmlformats.org/officeDocument/2006/relationships/notesMaster" Target="/ppt/notesMasters/notesMaster1.xml" Id="R3feb2a4a9d5546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97bb0a87eb497f" /><Relationship Type="http://schemas.openxmlformats.org/officeDocument/2006/relationships/notesMaster" Target="/ppt/notesMasters/notesMaster1.xml" Id="R1aa3dd894ee94c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652f18cc1343ba" /><Relationship Type="http://schemas.openxmlformats.org/officeDocument/2006/relationships/notesMaster" Target="/ppt/notesMasters/notesMaster1.xml" Id="Raff75ca3a89044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3b4dd78c374b35" /><Relationship Type="http://schemas.openxmlformats.org/officeDocument/2006/relationships/notesMaster" Target="/ppt/notesMasters/notesMaster1.xml" Id="R48902c7ab19a48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9e1bbb24cd45a2" /><Relationship Type="http://schemas.openxmlformats.org/officeDocument/2006/relationships/notesMaster" Target="/ppt/notesMasters/notesMaster1.xml" Id="R7151afbaaf1f4b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335c2dd3ae4e5f" /><Relationship Type="http://schemas.openxmlformats.org/officeDocument/2006/relationships/notesMaster" Target="/ppt/notesMasters/notesMaster1.xml" Id="R2c1ee53592254f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415f11c34241e9" /><Relationship Type="http://schemas.openxmlformats.org/officeDocument/2006/relationships/notesMaster" Target="/ppt/notesMasters/notesMaster1.xml" Id="Rbef65da5d89d46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8e201c5e874994" /><Relationship Type="http://schemas.openxmlformats.org/officeDocument/2006/relationships/notesMaster" Target="/ppt/notesMasters/notesMaster1.xml" Id="R620998c39fd642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8c4b68ac044f06" /><Relationship Type="http://schemas.openxmlformats.org/officeDocument/2006/relationships/notesMaster" Target="/ppt/notesMasters/notesMaster1.xml" Id="R4b07b92d4b884c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6dac401b0d45e0" /><Relationship Type="http://schemas.openxmlformats.org/officeDocument/2006/relationships/notesMaster" Target="/ppt/notesMasters/notesMaster1.xml" Id="Ra318452041914a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brings the campaign, the people, the proof and the payment status into one shared operating layer. This deck presents the live pilot experience and clearly labels planned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Goldman Sachs Research estimated that the creator economy could grow from $250 billion in 2023 to $480 billion by 2027. The same article states that brand deals account for about 70% of creator revenue. Source: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teams already have messaging, spreadsheets and analytics. The missing layer is a shared campaign record that connects the work across those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gives each participant the information needed for the campaign without opening the creator's full business to an agency or brand. Social account access remains creator controlled. Phyllo currently runs in sandbox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onboarding screen sets expectations before registration. Creator accounts are free during the current release. Agency and brand participation is handled through the pilot rather than self-service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creator view removes the need to chase context across messages. The demo shows sample data. Live creator accounts currently support authentication and personal transaction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becomes the operational centre of the campaign without owning the creator's private data. Agency access is currently an early access pilot rather than a self-service live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brand sees campaign evidence and approval state without access to a creator's unrelated income or campaigns. Brand access is currently part of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campaign demo is interactive. A user can request a revision, submit a new version, send work to the brand, approve the deliverable and mark the sample invoice as sent. These actions remain in the browser and notify nobody.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report generation would turn the campaign record into a client-ready report. The example metrics are illustrative. The pilot should validate which report sections agencies and brands need before this feature is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pilot starts narrow so CCF can learn from real campaign behaviour. Success thresholds should be agreed with the pilot agency and brand before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CCF has not set public agency or brand pricing. The pilot should test willingness to pay and identify the buyer. Capital would fund production social-data access, security and privacy work, report generation and operational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ask is for an agency willing to run a real pilot, a brand willing to use the campaign view and capital partners who understand the infrastructure needed to move from sandbox validation to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60035b53b149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1aff0cc6bb4fb3" /><Relationship Type="http://schemas.openxmlformats.org/officeDocument/2006/relationships/slideLayout" Target="/ppt/slideLayouts/slideLayout1.xml" Id="R3edafe5447414c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dafe5447414c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92d24619914b82" /><Relationship Type="http://schemas.openxmlformats.org/officeDocument/2006/relationships/image" Target="/ppt/media/image.png" Id="Rb541a45c8ced4262" /><Relationship Type="http://schemas.openxmlformats.org/officeDocument/2006/relationships/notesSlide" Target="/ppt/notesSlides/notesSlide1.xml" Id="R6009b4c3c88741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514c32863d4900" /><Relationship Type="http://schemas.openxmlformats.org/officeDocument/2006/relationships/image" Target="/ppt/media/image2.png" Id="Rc68fcdb1323743ab" /><Relationship Type="http://schemas.openxmlformats.org/officeDocument/2006/relationships/notesSlide" Target="/ppt/notesSlides/notesSlide2.xml" Id="Rbff38107feba41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f72fabdc3f4e0c" /><Relationship Type="http://schemas.openxmlformats.org/officeDocument/2006/relationships/image" Target="/ppt/media/image3.png" Id="R06a9724a1ef84d71" /><Relationship Type="http://schemas.openxmlformats.org/officeDocument/2006/relationships/notesSlide" Target="/ppt/notesSlides/notesSlide3.xml" Id="R70514cff672442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8d99218db34d9e" /><Relationship Type="http://schemas.openxmlformats.org/officeDocument/2006/relationships/image" Target="/ppt/media/image4.png" Id="Rb4abfc592d784d3d" /><Relationship Type="http://schemas.openxmlformats.org/officeDocument/2006/relationships/notesSlide" Target="/ppt/notesSlides/notesSlide4.xml" Id="R7fbfd2c277164d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ad7f4274754fab" /><Relationship Type="http://schemas.openxmlformats.org/officeDocument/2006/relationships/image" Target="/ppt/media/image5.png" Id="R84aad25703e14f0b" /><Relationship Type="http://schemas.openxmlformats.org/officeDocument/2006/relationships/image" Target="/ppt/media/image6.png" Id="R7ba0890759e34838" /><Relationship Type="http://schemas.openxmlformats.org/officeDocument/2006/relationships/notesSlide" Target="/ppt/notesSlides/notesSlide5.xml" Id="Red50accd42504c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99dea5a49f45e1" /><Relationship Type="http://schemas.openxmlformats.org/officeDocument/2006/relationships/image" Target="/ppt/media/image7.png" Id="R4b016ca1f3404f99" /><Relationship Type="http://schemas.openxmlformats.org/officeDocument/2006/relationships/image" Target="/ppt/media/image8.png" Id="R986019d126d04f41" /><Relationship Type="http://schemas.openxmlformats.org/officeDocument/2006/relationships/notesSlide" Target="/ppt/notesSlides/notesSlide6.xml" Id="Rac15099c65a94d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7d242ee38e4c89" /><Relationship Type="http://schemas.openxmlformats.org/officeDocument/2006/relationships/image" Target="/ppt/media/image9.png" Id="R77363439e2a044c1" /><Relationship Type="http://schemas.openxmlformats.org/officeDocument/2006/relationships/image" Target="/ppt/media/image10.png" Id="R55054d90d7124a43" /><Relationship Type="http://schemas.openxmlformats.org/officeDocument/2006/relationships/notesSlide" Target="/ppt/notesSlides/notesSlide7.xml" Id="R866da1145e6f41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ff7604d46849a5" /><Relationship Type="http://schemas.openxmlformats.org/officeDocument/2006/relationships/image" Target="/ppt/media/image11.png" Id="R5f36744bc90d4dac" /><Relationship Type="http://schemas.openxmlformats.org/officeDocument/2006/relationships/image" Target="/ppt/media/image12.png" Id="R72b75cc7654649bd" /><Relationship Type="http://schemas.openxmlformats.org/officeDocument/2006/relationships/notesSlide" Target="/ppt/notesSlides/notesSlide8.xml" Id="R4669ac27e65f40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9676238fe645e1" /><Relationship Type="http://schemas.openxmlformats.org/officeDocument/2006/relationships/image" Target="/ppt/media/image13.png" Id="R55f6616acf3e42ba" /><Relationship Type="http://schemas.openxmlformats.org/officeDocument/2006/relationships/image" Target="/ppt/media/image14.png" Id="R0b32103b30ee4283" /><Relationship Type="http://schemas.openxmlformats.org/officeDocument/2006/relationships/notesSlide" Target="/ppt/notesSlides/notesSlide9.xml" Id="R57ab2fe416374b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320a11f7f740b0" /><Relationship Type="http://schemas.openxmlformats.org/officeDocument/2006/relationships/image" Target="/ppt/media/image15.png" Id="R8278b1125e6c4b95" /><Relationship Type="http://schemas.openxmlformats.org/officeDocument/2006/relationships/chart" Target="/ppt/slides/charts/chart1.xml" Id="R3858e20ab53b4760" /><Relationship Type="http://schemas.openxmlformats.org/officeDocument/2006/relationships/notesSlide" Target="/ppt/notesSlides/notesSlide10.xml" Id="R09828b8658ab4a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b7f9f03c864500" /><Relationship Type="http://schemas.openxmlformats.org/officeDocument/2006/relationships/image" Target="/ppt/media/image16.png" Id="Rb634a213c4fa43f3" /><Relationship Type="http://schemas.openxmlformats.org/officeDocument/2006/relationships/notesSlide" Target="/ppt/notesSlides/notesSlide11.xml" Id="Rf4a4c0ae09904f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97588a965a4618" /><Relationship Type="http://schemas.openxmlformats.org/officeDocument/2006/relationships/image" Target="/ppt/media/image17.png" Id="Rf74a03df6b3e4c0e" /><Relationship Type="http://schemas.openxmlformats.org/officeDocument/2006/relationships/notesSlide" Target="/ppt/notesSlides/notesSlide12.xml" Id="Re44683d8d78642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774dcc4cb34ea4" /><Relationship Type="http://schemas.openxmlformats.org/officeDocument/2006/relationships/image" Target="/ppt/media/image18.png" Id="R7f8f1209aec444a3" /><Relationship Type="http://schemas.openxmlformats.org/officeDocument/2006/relationships/notesSlide" Target="/ppt/notesSlides/notesSlide13.xml" Id="Ra0f4a6a877ee4016" /></Relationships>
</file>

<file path=ppt/slides/charts/chart1.xml><?xml version="1.0" encoding="utf-8"?>
<c:chartSpace xmlns:c="http://schemas.openxmlformats.org/drawingml/2006/chart">
  <c:lang val="en-US"/>
  <c:chart>
    <c:plotArea>
      <c:barChart>
        <c:barDir val="col"/>
        <c:grouping val="clustered"/>
        <c:varyColors val="0"/>
        <c:ser>
          <c:idx val="0"/>
          <c:order val="0"/>
          <c:tx>
            <c:v>Verified views (thousands)</c:v>
          </c:tx>
          <c:spPr>
            <a:solidFill xmlns:a="http://schemas.openxmlformats.org/drawingml/2006/main">
              <a:srgbClr val="6D9738"/>
            </a:solidFill>
          </c:spPr>
          <c:cat>
            <c:strLit>
              <c:ptCount val="5"/>
              <c:pt idx="0">
                <c:v>Launch</c:v>
              </c:pt>
              <c:pt idx="1">
                <c:v>Week 1</c:v>
              </c:pt>
              <c:pt idx="2">
                <c:v>Week 2</c:v>
              </c:pt>
              <c:pt idx="3">
                <c:v>Week 3</c:v>
              </c:pt>
              <c:pt idx="4">
                <c:v>Final</c:v>
              </c:pt>
            </c:strLit>
          </c:cat>
          <c:val>
            <c:numLit>
              <c:formatCode>General</c:formatCode>
              <c:ptCount val="5"/>
              <c:pt idx="0">
                <c:v>12</c:v>
              </c:pt>
              <c:pt idx="1">
                <c:v>39</c:v>
              </c:pt>
              <c:pt idx="2">
                <c:v>71</c:v>
              </c:pt>
              <c:pt idx="3">
                <c:v>101</c:v>
              </c:pt>
              <c:pt idx="4">
                <c:v>128.4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541a45c8ced4262"/>
          <a:stretch xmlns:a="http://schemas.openxmlformats.org/drawingml/2006/main"/>
        </p:blipFill>
        <p:spPr>
          <a:xfrm xmlns:a="http://schemas.openxmlformats.org/drawingml/2006/main">
            <a:off x="646887" y="43815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2C748E-16B9-4C20-8DF4-D1A52A008AB7}"/>
              </a:ext>
            </a:extLst>
          </p:cNvPr>
          <p:cNvSpPr>
            <a:spLocks xmlns:a="http://schemas.openxmlformats.org/drawingml/2006/main" noGrp="1"/>
          </p:cNvSpPr>
          <p:nvPr/>
        </p:nvSpPr>
        <p:spPr>
          <a:xfrm xmlns:a="http://schemas.openxmlformats.org/drawingml/2006/main">
            <a:off x="628650" y="16573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PARTNERSHIP DECK</a:t>
            </a:r>
          </a:p>
        </p:txBody>
      </p:sp>
      <p:sp>
        <p:nvSpPr>
          <p:cNvPr id="3" name="">
            <a:extLst xmlns:a="http://schemas.openxmlformats.org/drawingml/2006/main">
              <a:ext uri="{FF2B5EF4-FFF2-40B4-BE49-F238E27FC236}">
                <a16:creationId xmlns:a16="http://schemas.microsoft.com/office/drawing/2014/main" id="{3E8384BE-69FD-4017-8737-C42A1DD81440}"/>
              </a:ext>
            </a:extLst>
          </p:cNvPr>
          <p:cNvSpPr>
            <a:spLocks xmlns:a="http://schemas.openxmlformats.org/drawingml/2006/main" noGrp="1"/>
          </p:cNvSpPr>
          <p:nvPr/>
        </p:nvSpPr>
        <p:spPr>
          <a:xfrm xmlns:a="http://schemas.openxmlformats.org/drawingml/2006/main">
            <a:off x="590550" y="1981200"/>
            <a:ext cx="723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93"/>
          </a:bodyPr>
          <a:lstStyle xmlns:a="http://schemas.openxmlformats.org/drawingml/2006/main"/>
          <a:p xmlns:a="http://schemas.openxmlformats.org/drawingml/2006/main">
            <a:pPr algn="l">
              <a:defRPr sz="5550" b="1">
                <a:solidFill>
                  <a:srgbClr val="F4F7EF"/>
                </a:solidFill>
                <a:latin typeface="Arial"/>
                <a:ea typeface="Arial"/>
                <a:cs typeface="Arial"/>
              </a:defRPr>
            </a:pPr>
            <a:r>
              <a:rPr sz="5550" b="1">
                <a:solidFill>
                  <a:srgbClr val="F4F7EF"/>
                </a:solidFill>
                <a:latin typeface="Arial"/>
                <a:ea typeface="Arial"/>
                <a:cs typeface="Arial"/>
              </a:rPr>
              <a:t>Creator Cash Flow</a:t>
            </a:r>
          </a:p>
        </p:txBody>
      </p:sp>
      <p:sp>
        <p:nvSpPr>
          <p:cNvPr id="4" name="">
            <a:extLst xmlns:a="http://schemas.openxmlformats.org/drawingml/2006/main">
              <a:ext uri="{FF2B5EF4-FFF2-40B4-BE49-F238E27FC236}">
                <a16:creationId xmlns:a16="http://schemas.microsoft.com/office/drawing/2014/main" id="{20E5E7C4-B151-47E7-A1EF-15AD1441E2B6}"/>
              </a:ext>
            </a:extLst>
          </p:cNvPr>
          <p:cNvSpPr>
            <a:spLocks xmlns:a="http://schemas.openxmlformats.org/drawingml/2006/main" noGrp="1"/>
          </p:cNvSpPr>
          <p:nvPr/>
        </p:nvSpPr>
        <p:spPr>
          <a:xfrm xmlns:a="http://schemas.openxmlformats.org/drawingml/2006/main">
            <a:off x="628650" y="29718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l">
              <a:defRPr sz="2550" b="0">
                <a:solidFill>
                  <a:srgbClr val="A4B09F"/>
                </a:solidFill>
                <a:latin typeface="Arial"/>
                <a:ea typeface="Arial"/>
                <a:cs typeface="Arial"/>
              </a:defRPr>
            </a:pPr>
            <a:r>
              <a:rPr sz="2550" b="0">
                <a:solidFill>
                  <a:srgbClr val="A4B09F"/>
                </a:solidFill>
                <a:latin typeface="Arial"/>
                <a:ea typeface="Arial"/>
                <a:cs typeface="Arial"/>
              </a:rPr>
              <a:t>Campaign operations for agencies, brands and creators</a:t>
            </a:r>
          </a:p>
        </p:txBody>
      </p:sp>
      <p:sp>
        <p:nvSpPr>
          <p:cNvPr id="5" name="">
            <a:extLst xmlns:a="http://schemas.openxmlformats.org/drawingml/2006/main">
              <a:ext uri="{FF2B5EF4-FFF2-40B4-BE49-F238E27FC236}">
                <a16:creationId xmlns:a16="http://schemas.microsoft.com/office/drawing/2014/main" id="{9539B988-0597-41BF-AF18-467B9D90274A}"/>
              </a:ext>
            </a:extLst>
          </p:cNvPr>
          <p:cNvSpPr>
            <a:spLocks xmlns:a="http://schemas.openxmlformats.org/drawingml/2006/main" noGrp="1"/>
          </p:cNvSpPr>
          <p:nvPr/>
        </p:nvSpPr>
        <p:spPr>
          <a:xfrm xmlns:a="http://schemas.openxmlformats.org/drawingml/2006/main">
            <a:off x="628650" y="4238625"/>
            <a:ext cx="49530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6" name="">
            <a:extLst xmlns:a="http://schemas.openxmlformats.org/drawingml/2006/main">
              <a:ext uri="{FF2B5EF4-FFF2-40B4-BE49-F238E27FC236}">
                <a16:creationId xmlns:a16="http://schemas.microsoft.com/office/drawing/2014/main" id="{39793D20-B6B2-484A-BB2A-326F2F1436FB}"/>
              </a:ext>
            </a:extLst>
          </p:cNvPr>
          <p:cNvSpPr>
            <a:spLocks xmlns:a="http://schemas.openxmlformats.org/drawingml/2006/main" noGrp="1"/>
          </p:cNvSpPr>
          <p:nvPr/>
        </p:nvSpPr>
        <p:spPr>
          <a:xfrm xmlns:a="http://schemas.openxmlformats.org/drawingml/2006/main">
            <a:off x="628650" y="449580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7EF"/>
                </a:solidFill>
                <a:latin typeface="Arial"/>
                <a:ea typeface="Arial"/>
                <a:cs typeface="Arial"/>
              </a:defRPr>
            </a:pPr>
            <a:r>
              <a:rPr sz="1650" b="0">
                <a:solidFill>
                  <a:srgbClr val="F4F7EF"/>
                </a:solidFill>
                <a:latin typeface="Arial"/>
                <a:ea typeface="Arial"/>
                <a:cs typeface="Arial"/>
              </a:rPr>
              <a:t>A live product, a focused pilot and a path to trusted campaign reporting</a:t>
            </a:r>
          </a:p>
        </p:txBody>
      </p:sp>
      <p:sp>
        <p:nvSpPr>
          <p:cNvPr id="7" name="">
            <a:extLst xmlns:a="http://schemas.openxmlformats.org/drawingml/2006/main">
              <a:ext uri="{FF2B5EF4-FFF2-40B4-BE49-F238E27FC236}">
                <a16:creationId xmlns:a16="http://schemas.microsoft.com/office/drawing/2014/main" id="{D1583BC3-9766-4D2C-BC7D-97CBFFCE55EF}"/>
              </a:ext>
            </a:extLst>
          </p:cNvPr>
          <p:cNvSpPr>
            <a:spLocks xmlns:a="http://schemas.openxmlformats.org/drawingml/2006/main" noGrp="1"/>
          </p:cNvSpPr>
          <p:nvPr/>
        </p:nvSpPr>
        <p:spPr>
          <a:xfrm xmlns:a="http://schemas.openxmlformats.org/drawingml/2006/main">
            <a:off x="8096250" y="1285875"/>
            <a:ext cx="2952750" cy="4000500"/>
          </a:xfrm>
          <a:prstGeom xmlns:a="http://schemas.openxmlformats.org/drawingml/2006/main" prst="roundRect">
            <a:avLst>
              <a:gd name="adj" fmla="val 9032"/>
            </a:avLst>
          </a:prstGeom>
          <a:solidFill xmlns:a="http://schemas.openxmlformats.org/drawingml/2006/main">
            <a:srgbClr val="19251A"/>
          </a:solidFill>
          <a:ln xmlns:a="http://schemas.openxmlformats.org/drawingml/2006/main" w="9525">
            <a:solidFill>
              <a:srgbClr val="2A382C"/>
            </a:solidFill>
          </a:ln>
        </p:spPr>
      </p:sp>
      <p:sp>
        <p:nvSpPr>
          <p:cNvPr id="8" name="">
            <a:extLst xmlns:a="http://schemas.openxmlformats.org/drawingml/2006/main">
              <a:ext uri="{FF2B5EF4-FFF2-40B4-BE49-F238E27FC236}">
                <a16:creationId xmlns:a16="http://schemas.microsoft.com/office/drawing/2014/main" id="{0C70972B-4B02-4DD9-BA22-EF9C2B86CE8C}"/>
              </a:ext>
            </a:extLst>
          </p:cNvPr>
          <p:cNvSpPr>
            <a:spLocks xmlns:a="http://schemas.openxmlformats.org/drawingml/2006/main" noGrp="1"/>
          </p:cNvSpPr>
          <p:nvPr/>
        </p:nvSpPr>
        <p:spPr>
          <a:xfrm xmlns:a="http://schemas.openxmlformats.org/drawingml/2006/main">
            <a:off x="8439150" y="16668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ONE CAMPAIGN</a:t>
            </a:r>
          </a:p>
        </p:txBody>
      </p:sp>
      <p:sp>
        <p:nvSpPr>
          <p:cNvPr id="9" name="">
            <a:extLst xmlns:a="http://schemas.openxmlformats.org/drawingml/2006/main">
              <a:ext uri="{FF2B5EF4-FFF2-40B4-BE49-F238E27FC236}">
                <a16:creationId xmlns:a16="http://schemas.microsoft.com/office/drawing/2014/main" id="{B1EDAB72-C0A1-4902-BFEB-F8675D7722A6}"/>
              </a:ext>
            </a:extLst>
          </p:cNvPr>
          <p:cNvSpPr>
            <a:spLocks xmlns:a="http://schemas.openxmlformats.org/drawingml/2006/main" noGrp="1"/>
          </p:cNvSpPr>
          <p:nvPr/>
        </p:nvSpPr>
        <p:spPr>
          <a:xfrm xmlns:a="http://schemas.openxmlformats.org/drawingml/2006/main">
            <a:off x="8439150" y="22860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FFD09A"/>
                </a:solidFill>
                <a:latin typeface="Arial"/>
                <a:ea typeface="Arial"/>
                <a:cs typeface="Arial"/>
              </a:defRPr>
            </a:pPr>
            <a:r>
              <a:rPr sz="2100" b="1">
                <a:solidFill>
                  <a:srgbClr val="FFD09A"/>
                </a:solidFill>
                <a:latin typeface="Arial"/>
                <a:ea typeface="Arial"/>
                <a:cs typeface="Arial"/>
              </a:rPr>
              <a:t>Brand</a:t>
            </a:r>
          </a:p>
        </p:txBody>
      </p:sp>
      <p:sp>
        <p:nvSpPr>
          <p:cNvPr id="10" name="">
            <a:extLst xmlns:a="http://schemas.openxmlformats.org/drawingml/2006/main">
              <a:ext uri="{FF2B5EF4-FFF2-40B4-BE49-F238E27FC236}">
                <a16:creationId xmlns:a16="http://schemas.microsoft.com/office/drawing/2014/main" id="{AFC70E4B-DFE2-43FA-B0F4-97981386E3C4}"/>
              </a:ext>
            </a:extLst>
          </p:cNvPr>
          <p:cNvSpPr>
            <a:spLocks xmlns:a="http://schemas.openxmlformats.org/drawingml/2006/main" noGrp="1"/>
          </p:cNvSpPr>
          <p:nvPr/>
        </p:nvSpPr>
        <p:spPr>
          <a:xfrm xmlns:a="http://schemas.openxmlformats.org/drawingml/2006/main">
            <a:off x="8591550" y="267652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203B7654-59F5-4273-97E1-B2119E85B655}"/>
              </a:ext>
            </a:extLst>
          </p:cNvPr>
          <p:cNvSpPr>
            <a:spLocks xmlns:a="http://schemas.openxmlformats.org/drawingml/2006/main" noGrp="1"/>
          </p:cNvSpPr>
          <p:nvPr/>
        </p:nvSpPr>
        <p:spPr>
          <a:xfrm xmlns:a="http://schemas.openxmlformats.org/drawingml/2006/main">
            <a:off x="8439150" y="31432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8FE3CF"/>
                </a:solidFill>
                <a:latin typeface="Arial"/>
                <a:ea typeface="Arial"/>
                <a:cs typeface="Arial"/>
              </a:defRPr>
            </a:pPr>
            <a:r>
              <a:rPr sz="2100" b="1">
                <a:solidFill>
                  <a:srgbClr val="8FE3CF"/>
                </a:solidFill>
                <a:latin typeface="Arial"/>
                <a:ea typeface="Arial"/>
                <a:cs typeface="Arial"/>
              </a:rPr>
              <a:t>Agency</a:t>
            </a:r>
          </a:p>
        </p:txBody>
      </p:sp>
      <p:sp>
        <p:nvSpPr>
          <p:cNvPr id="12" name="">
            <a:extLst xmlns:a="http://schemas.openxmlformats.org/drawingml/2006/main">
              <a:ext uri="{FF2B5EF4-FFF2-40B4-BE49-F238E27FC236}">
                <a16:creationId xmlns:a16="http://schemas.microsoft.com/office/drawing/2014/main" id="{58E5E811-E533-4D5D-81A8-08A9A127181C}"/>
              </a:ext>
            </a:extLst>
          </p:cNvPr>
          <p:cNvSpPr>
            <a:spLocks xmlns:a="http://schemas.openxmlformats.org/drawingml/2006/main" noGrp="1"/>
          </p:cNvSpPr>
          <p:nvPr/>
        </p:nvSpPr>
        <p:spPr>
          <a:xfrm xmlns:a="http://schemas.openxmlformats.org/drawingml/2006/main">
            <a:off x="8591550" y="353377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840E2E00-CEF4-43CE-8CEE-D957F5C5C6B9}"/>
              </a:ext>
            </a:extLst>
          </p:cNvPr>
          <p:cNvSpPr>
            <a:spLocks xmlns:a="http://schemas.openxmlformats.org/drawingml/2006/main" noGrp="1"/>
          </p:cNvSpPr>
          <p:nvPr/>
        </p:nvSpPr>
        <p:spPr>
          <a:xfrm xmlns:a="http://schemas.openxmlformats.org/drawingml/2006/main">
            <a:off x="8439150" y="4000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D4F973"/>
                </a:solidFill>
                <a:latin typeface="Arial"/>
                <a:ea typeface="Arial"/>
                <a:cs typeface="Arial"/>
              </a:defRPr>
            </a:pPr>
            <a:r>
              <a:rPr sz="2100" b="1">
                <a:solidFill>
                  <a:srgbClr val="D4F973"/>
                </a:solidFill>
                <a:latin typeface="Arial"/>
                <a:ea typeface="Arial"/>
                <a:cs typeface="Arial"/>
              </a:rPr>
              <a:t>Creator</a:t>
            </a:r>
          </a:p>
        </p:txBody>
      </p:sp>
      <p:sp>
        <p:nvSpPr>
          <p:cNvPr id="14" name="">
            <a:extLst xmlns:a="http://schemas.openxmlformats.org/drawingml/2006/main">
              <a:ext uri="{FF2B5EF4-FFF2-40B4-BE49-F238E27FC236}">
                <a16:creationId xmlns:a16="http://schemas.microsoft.com/office/drawing/2014/main" id="{94C35F62-86E5-4B86-BE5B-28CAAFBB860C}"/>
              </a:ext>
            </a:extLst>
          </p:cNvPr>
          <p:cNvSpPr>
            <a:spLocks xmlns:a="http://schemas.openxmlformats.org/drawingml/2006/main" noGrp="1"/>
          </p:cNvSpPr>
          <p:nvPr/>
        </p:nvSpPr>
        <p:spPr>
          <a:xfrm xmlns:a="http://schemas.openxmlformats.org/drawingml/2006/main">
            <a:off x="8439150"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Brief to payment status</a:t>
            </a:r>
          </a:p>
        </p:txBody>
      </p:sp>
      <p:sp>
        <p:nvSpPr>
          <p:cNvPr id="15" name="">
            <a:extLst xmlns:a="http://schemas.openxmlformats.org/drawingml/2006/main">
              <a:ext uri="{FF2B5EF4-FFF2-40B4-BE49-F238E27FC236}">
                <a16:creationId xmlns:a16="http://schemas.microsoft.com/office/drawing/2014/main" id="{BCC70BC9-1BA6-4D45-9F08-3A213FDA06D6}"/>
              </a:ext>
            </a:extLst>
          </p:cNvPr>
          <p:cNvSpPr>
            <a:spLocks xmlns:a="http://schemas.openxmlformats.org/drawingml/2006/main" noGrp="1"/>
          </p:cNvSpPr>
          <p:nvPr/>
        </p:nvSpPr>
        <p:spPr>
          <a:xfrm xmlns:a="http://schemas.openxmlformats.org/drawingml/2006/main">
            <a:off x="628650" y="613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September 2026</a:t>
            </a:r>
          </a:p>
        </p:txBody>
      </p:sp>
    </p:spTree>
    <p:extLst>
      <p:ext uri="{BB962C8B-B14F-4D97-AF65-F5344CB8AC3E}">
        <p14:creationId xmlns:p14="http://schemas.microsoft.com/office/powerpoint/2010/main" val="534664989"/>
      </p:ext>
    </p:extLst>
  </p:cSld>
</p:sld>
</file>

<file path=ppt/slides/slide2.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68fcdb1323743ab"/>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625BCF-3A28-4B6F-AF00-C172E01B867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C272D50-5F5D-486E-A372-73BC7BD56DF7}"/>
              </a:ext>
            </a:extLst>
          </p:cNvPr>
          <p:cNvSpPr>
            <a:spLocks xmlns:a="http://schemas.openxmlformats.org/drawingml/2006/main" noGrp="1"/>
          </p:cNvSpPr>
          <p:nvPr/>
        </p:nvSpPr>
        <p:spPr>
          <a:xfrm xmlns:a="http://schemas.openxmlformats.org/drawingml/2006/main">
            <a:off x="609600" y="1066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MARKET CONTEXT</a:t>
            </a:r>
          </a:p>
        </p:txBody>
      </p:sp>
      <p:sp>
        <p:nvSpPr>
          <p:cNvPr id="4" name="">
            <a:extLst xmlns:a="http://schemas.openxmlformats.org/drawingml/2006/main">
              <a:ext uri="{FF2B5EF4-FFF2-40B4-BE49-F238E27FC236}">
                <a16:creationId xmlns:a16="http://schemas.microsoft.com/office/drawing/2014/main" id="{4ACF9AF8-2A30-4D37-8D36-F6DDD99E8218}"/>
              </a:ext>
            </a:extLst>
          </p:cNvPr>
          <p:cNvSpPr>
            <a:spLocks xmlns:a="http://schemas.openxmlformats.org/drawingml/2006/main" noGrp="1"/>
          </p:cNvSpPr>
          <p:nvPr/>
        </p:nvSpPr>
        <p:spPr>
          <a:xfrm xmlns:a="http://schemas.openxmlformats.org/drawingml/2006/main">
            <a:off x="609600" y="1352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86"/>
          </a:bodyPr>
          <a:lstStyle xmlns:a="http://schemas.openxmlformats.org/drawingml/2006/main"/>
          <a:p xmlns:a="http://schemas.openxmlformats.org/drawingml/2006/main">
            <a:pPr algn="l">
              <a:defRPr sz="3600" b="1">
                <a:solidFill>
                  <a:srgbClr val="F4F7EF"/>
                </a:solidFill>
                <a:latin typeface="Arial"/>
                <a:ea typeface="Arial"/>
                <a:cs typeface="Arial"/>
              </a:defRPr>
            </a:pPr>
            <a:r>
              <a:rPr sz="3600" b="1">
                <a:solidFill>
                  <a:srgbClr val="F4F7EF"/>
                </a:solidFill>
                <a:latin typeface="Arial"/>
                <a:ea typeface="Arial"/>
                <a:cs typeface="Arial"/>
              </a:rPr>
              <a:t>Creator marketing is becoming an operating challenge</a:t>
            </a:r>
          </a:p>
        </p:txBody>
      </p:sp>
      <p:sp>
        <p:nvSpPr>
          <p:cNvPr id="5" name="">
            <a:extLst xmlns:a="http://schemas.openxmlformats.org/drawingml/2006/main">
              <a:ext uri="{FF2B5EF4-FFF2-40B4-BE49-F238E27FC236}">
                <a16:creationId xmlns:a16="http://schemas.microsoft.com/office/drawing/2014/main" id="{ADDD769E-FCB3-4D5A-870F-208D28D62AF3}"/>
              </a:ext>
            </a:extLst>
          </p:cNvPr>
          <p:cNvSpPr>
            <a:spLocks xmlns:a="http://schemas.openxmlformats.org/drawingml/2006/main" noGrp="1"/>
          </p:cNvSpPr>
          <p:nvPr/>
        </p:nvSpPr>
        <p:spPr>
          <a:xfrm xmlns:a="http://schemas.openxmlformats.org/drawingml/2006/main">
            <a:off x="628650" y="26289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76"/>
          </a:bodyPr>
          <a:lstStyle xmlns:a="http://schemas.openxmlformats.org/drawingml/2006/main"/>
          <a:p xmlns:a="http://schemas.openxmlformats.org/drawingml/2006/main">
            <a:pPr algn="l">
              <a:defRPr sz="6600" b="1">
                <a:solidFill>
                  <a:srgbClr val="D4F973"/>
                </a:solidFill>
                <a:latin typeface="Arial"/>
                <a:ea typeface="Arial"/>
                <a:cs typeface="Arial"/>
              </a:defRPr>
            </a:pPr>
            <a:r>
              <a:rPr sz="6600" b="1">
                <a:solidFill>
                  <a:srgbClr val="D4F973"/>
                </a:solidFill>
                <a:latin typeface="Arial"/>
                <a:ea typeface="Arial"/>
                <a:cs typeface="Arial"/>
              </a:rPr>
              <a:t>$480B</a:t>
            </a:r>
          </a:p>
        </p:txBody>
      </p:sp>
      <p:sp>
        <p:nvSpPr>
          <p:cNvPr id="6" name="">
            <a:extLst xmlns:a="http://schemas.openxmlformats.org/drawingml/2006/main">
              <a:ext uri="{FF2B5EF4-FFF2-40B4-BE49-F238E27FC236}">
                <a16:creationId xmlns:a16="http://schemas.microsoft.com/office/drawing/2014/main" id="{55EBF490-064C-49DB-AE16-0736B5292C27}"/>
              </a:ext>
            </a:extLst>
          </p:cNvPr>
          <p:cNvSpPr>
            <a:spLocks xmlns:a="http://schemas.openxmlformats.org/drawingml/2006/main" noGrp="1"/>
          </p:cNvSpPr>
          <p:nvPr/>
        </p:nvSpPr>
        <p:spPr>
          <a:xfrm xmlns:a="http://schemas.openxmlformats.org/drawingml/2006/main">
            <a:off x="666750" y="36195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4F7EF"/>
                </a:solidFill>
                <a:latin typeface="Arial"/>
                <a:ea typeface="Arial"/>
                <a:cs typeface="Arial"/>
              </a:defRPr>
            </a:pPr>
            <a:r>
              <a:rPr sz="1800" b="0">
                <a:solidFill>
                  <a:srgbClr val="F4F7EF"/>
                </a:solidFill>
                <a:latin typeface="Arial"/>
                <a:ea typeface="Arial"/>
                <a:cs typeface="Arial"/>
              </a:rPr>
              <a:t>estimated creator economy by 2027</a:t>
            </a:r>
          </a:p>
        </p:txBody>
      </p:sp>
      <p:sp>
        <p:nvSpPr>
          <p:cNvPr id="7" name="">
            <a:extLst xmlns:a="http://schemas.openxmlformats.org/drawingml/2006/main">
              <a:ext uri="{FF2B5EF4-FFF2-40B4-BE49-F238E27FC236}">
                <a16:creationId xmlns:a16="http://schemas.microsoft.com/office/drawing/2014/main" id="{A5D74FC8-C2F5-4ADB-AA7F-B03202632759}"/>
              </a:ext>
            </a:extLst>
          </p:cNvPr>
          <p:cNvSpPr>
            <a:spLocks xmlns:a="http://schemas.openxmlformats.org/drawingml/2006/main" noGrp="1"/>
          </p:cNvSpPr>
          <p:nvPr/>
        </p:nvSpPr>
        <p:spPr>
          <a:xfrm xmlns:a="http://schemas.openxmlformats.org/drawingml/2006/main">
            <a:off x="66675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A4B09F"/>
                </a:solidFill>
                <a:latin typeface="Arial"/>
                <a:ea typeface="Arial"/>
                <a:cs typeface="Arial"/>
              </a:defRPr>
            </a:pPr>
            <a:r>
              <a:rPr sz="1350" b="0">
                <a:solidFill>
                  <a:srgbClr val="A4B09F"/>
                </a:solidFill>
                <a:latin typeface="Arial"/>
                <a:ea typeface="Arial"/>
                <a:cs typeface="Arial"/>
              </a:rPr>
              <a:t>$250B estimated in 2023</a:t>
            </a:r>
          </a:p>
        </p:txBody>
      </p:sp>
      <p:sp>
        <p:nvSpPr>
          <p:cNvPr id="8" name="">
            <a:extLst xmlns:a="http://schemas.openxmlformats.org/drawingml/2006/main">
              <a:ext uri="{FF2B5EF4-FFF2-40B4-BE49-F238E27FC236}">
                <a16:creationId xmlns:a16="http://schemas.microsoft.com/office/drawing/2014/main" id="{246B9802-090E-4EFF-BEA9-834B2BF1057D}"/>
              </a:ext>
            </a:extLst>
          </p:cNvPr>
          <p:cNvSpPr>
            <a:spLocks xmlns:a="http://schemas.openxmlformats.org/drawingml/2006/main" noGrp="1"/>
          </p:cNvSpPr>
          <p:nvPr/>
        </p:nvSpPr>
        <p:spPr>
          <a:xfrm xmlns:a="http://schemas.openxmlformats.org/drawingml/2006/main">
            <a:off x="5391150" y="2514600"/>
            <a:ext cx="0" cy="24765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18E8C716-3586-4A8A-ACBB-15F9331A147B}"/>
              </a:ext>
            </a:extLst>
          </p:cNvPr>
          <p:cNvSpPr>
            <a:spLocks xmlns:a="http://schemas.openxmlformats.org/drawingml/2006/main" noGrp="1"/>
          </p:cNvSpPr>
          <p:nvPr/>
        </p:nvSpPr>
        <p:spPr>
          <a:xfrm xmlns:a="http://schemas.openxmlformats.org/drawingml/2006/main">
            <a:off x="5981700" y="26289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704"/>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Brand deals account for about 70% of creator revenue in the research cited by Goldman Sachs.</a:t>
            </a:r>
          </a:p>
        </p:txBody>
      </p:sp>
      <p:sp>
        <p:nvSpPr>
          <p:cNvPr id="10" name="">
            <a:extLst xmlns:a="http://schemas.openxmlformats.org/drawingml/2006/main">
              <a:ext uri="{FF2B5EF4-FFF2-40B4-BE49-F238E27FC236}">
                <a16:creationId xmlns:a16="http://schemas.microsoft.com/office/drawing/2014/main" id="{4B0A5FD2-3F24-462F-B688-AD26F85C254F}"/>
              </a:ext>
            </a:extLst>
          </p:cNvPr>
          <p:cNvSpPr>
            <a:spLocks xmlns:a="http://schemas.openxmlformats.org/drawingml/2006/main" noGrp="1"/>
          </p:cNvSpPr>
          <p:nvPr/>
        </p:nvSpPr>
        <p:spPr>
          <a:xfrm xmlns:a="http://schemas.openxmlformats.org/drawingml/2006/main">
            <a:off x="5981700" y="4000500"/>
            <a:ext cx="38100" cy="85725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11" name="">
            <a:extLst xmlns:a="http://schemas.openxmlformats.org/drawingml/2006/main">
              <a:ext uri="{FF2B5EF4-FFF2-40B4-BE49-F238E27FC236}">
                <a16:creationId xmlns:a16="http://schemas.microsoft.com/office/drawing/2014/main" id="{27C1B78C-CAD8-4021-88E4-67A3E7E42A78}"/>
              </a:ext>
            </a:extLst>
          </p:cNvPr>
          <p:cNvSpPr>
            <a:spLocks xmlns:a="http://schemas.openxmlformats.org/drawingml/2006/main" noGrp="1"/>
          </p:cNvSpPr>
          <p:nvPr/>
        </p:nvSpPr>
        <p:spPr>
          <a:xfrm xmlns:a="http://schemas.openxmlformats.org/drawingml/2006/main">
            <a:off x="6210300" y="3962400"/>
            <a:ext cx="4724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More campaign spend means more briefs, approvals, reporting requests and payment coordination.</a:t>
            </a:r>
          </a:p>
        </p:txBody>
      </p:sp>
      <p:sp>
        <p:nvSpPr>
          <p:cNvPr id="12" name="">
            <a:extLst xmlns:a="http://schemas.openxmlformats.org/drawingml/2006/main">
              <a:ext uri="{FF2B5EF4-FFF2-40B4-BE49-F238E27FC236}">
                <a16:creationId xmlns:a16="http://schemas.microsoft.com/office/drawing/2014/main" id="{E3E071F4-8981-4BF0-B256-25CB09D92616}"/>
              </a:ext>
            </a:extLst>
          </p:cNvPr>
          <p:cNvSpPr>
            <a:spLocks xmlns:a="http://schemas.openxmlformats.org/drawingml/2006/main" noGrp="1"/>
          </p:cNvSpPr>
          <p:nvPr/>
        </p:nvSpPr>
        <p:spPr>
          <a:xfrm xmlns:a="http://schemas.openxmlformats.org/drawingml/2006/main">
            <a:off x="666750" y="60769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Source: Goldman Sachs Research, 19 April 2023</a:t>
            </a:r>
          </a:p>
        </p:txBody>
      </p:sp>
    </p:spTree>
    <p:extLst>
      <p:ext uri="{BB962C8B-B14F-4D97-AF65-F5344CB8AC3E}">
        <p14:creationId xmlns:p14="http://schemas.microsoft.com/office/powerpoint/2010/main" val="1024795023"/>
      </p:ext>
    </p:extLst>
  </p:cSld>
</p:sld>
</file>

<file path=ppt/slides/slide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6a9724a1ef84d71"/>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B92F6C-5E12-44C8-97EA-B0312B7F6FBA}"/>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740E6F8A-5928-4704-B7FC-20A7D2E5DD81}"/>
              </a:ext>
            </a:extLst>
          </p:cNvPr>
          <p:cNvSpPr>
            <a:spLocks xmlns:a="http://schemas.openxmlformats.org/drawingml/2006/main" noGrp="1"/>
          </p:cNvSpPr>
          <p:nvPr/>
        </p:nvSpPr>
        <p:spPr>
          <a:xfrm xmlns:a="http://schemas.openxmlformats.org/drawingml/2006/main">
            <a:off x="609600" y="102870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THE OPERATING PROBLEM</a:t>
            </a:r>
          </a:p>
        </p:txBody>
      </p:sp>
      <p:sp>
        <p:nvSpPr>
          <p:cNvPr id="4" name="">
            <a:extLst xmlns:a="http://schemas.openxmlformats.org/drawingml/2006/main">
              <a:ext uri="{FF2B5EF4-FFF2-40B4-BE49-F238E27FC236}">
                <a16:creationId xmlns:a16="http://schemas.microsoft.com/office/drawing/2014/main" id="{062F1C8F-29D4-4892-A842-E6DED3916177}"/>
              </a:ext>
            </a:extLst>
          </p:cNvPr>
          <p:cNvSpPr>
            <a:spLocks xmlns:a="http://schemas.openxmlformats.org/drawingml/2006/main" noGrp="1"/>
          </p:cNvSpPr>
          <p:nvPr/>
        </p:nvSpPr>
        <p:spPr>
          <a:xfrm xmlns:a="http://schemas.openxmlformats.org/drawingml/2006/main">
            <a:off x="609600" y="1333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4F7EF"/>
                </a:solidFill>
                <a:latin typeface="Arial"/>
                <a:ea typeface="Arial"/>
                <a:cs typeface="Arial"/>
              </a:defRPr>
            </a:pPr>
            <a:r>
              <a:rPr sz="3750" b="1">
                <a:solidFill>
                  <a:srgbClr val="F4F7EF"/>
                </a:solidFill>
                <a:latin typeface="Arial"/>
                <a:ea typeface="Arial"/>
                <a:cs typeface="Arial"/>
              </a:rPr>
              <a:t>Campaign operations are fragmented</a:t>
            </a:r>
          </a:p>
        </p:txBody>
      </p:sp>
      <p:sp>
        <p:nvSpPr>
          <p:cNvPr id="5" name="">
            <a:extLst xmlns:a="http://schemas.openxmlformats.org/drawingml/2006/main">
              <a:ext uri="{FF2B5EF4-FFF2-40B4-BE49-F238E27FC236}">
                <a16:creationId xmlns:a16="http://schemas.microsoft.com/office/drawing/2014/main" id="{B2FD13CA-AAD5-487C-B7ED-D6149408F639}"/>
              </a:ext>
            </a:extLst>
          </p:cNvPr>
          <p:cNvSpPr>
            <a:spLocks xmlns:a="http://schemas.openxmlformats.org/drawingml/2006/main" noGrp="1"/>
          </p:cNvSpPr>
          <p:nvPr/>
        </p:nvSpPr>
        <p:spPr>
          <a:xfrm xmlns:a="http://schemas.openxmlformats.org/drawingml/2006/main">
            <a:off x="6286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D09A"/>
                </a:solidFill>
                <a:latin typeface="Arial"/>
                <a:ea typeface="Arial"/>
                <a:cs typeface="Arial"/>
              </a:defRPr>
            </a:pPr>
            <a:r>
              <a:rPr sz="2250" b="1">
                <a:solidFill>
                  <a:srgbClr val="FFD0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D77B4A4-DC0E-4C21-B2F5-9ECA61903DC8}"/>
              </a:ext>
            </a:extLst>
          </p:cNvPr>
          <p:cNvSpPr>
            <a:spLocks xmlns:a="http://schemas.openxmlformats.org/drawingml/2006/main" noGrp="1"/>
          </p:cNvSpPr>
          <p:nvPr/>
        </p:nvSpPr>
        <p:spPr>
          <a:xfrm xmlns:a="http://schemas.openxmlformats.org/drawingml/2006/main">
            <a:off x="6286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7" name="">
            <a:extLst xmlns:a="http://schemas.openxmlformats.org/drawingml/2006/main">
              <a:ext uri="{FF2B5EF4-FFF2-40B4-BE49-F238E27FC236}">
                <a16:creationId xmlns:a16="http://schemas.microsoft.com/office/drawing/2014/main" id="{B2946A6E-C11B-4F2B-B7D8-1CF67B239E99}"/>
              </a:ext>
            </a:extLst>
          </p:cNvPr>
          <p:cNvSpPr>
            <a:spLocks xmlns:a="http://schemas.openxmlformats.org/drawingml/2006/main" noGrp="1"/>
          </p:cNvSpPr>
          <p:nvPr/>
        </p:nvSpPr>
        <p:spPr>
          <a:xfrm xmlns:a="http://schemas.openxmlformats.org/drawingml/2006/main">
            <a:off x="6286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Brief</a:t>
            </a:r>
          </a:p>
        </p:txBody>
      </p:sp>
      <p:sp>
        <p:nvSpPr>
          <p:cNvPr id="8" name="">
            <a:extLst xmlns:a="http://schemas.openxmlformats.org/drawingml/2006/main">
              <a:ext uri="{FF2B5EF4-FFF2-40B4-BE49-F238E27FC236}">
                <a16:creationId xmlns:a16="http://schemas.microsoft.com/office/drawing/2014/main" id="{1F45762F-8748-4862-9CDE-B4592DA8822E}"/>
              </a:ext>
            </a:extLst>
          </p:cNvPr>
          <p:cNvSpPr>
            <a:spLocks xmlns:a="http://schemas.openxmlformats.org/drawingml/2006/main" noGrp="1"/>
          </p:cNvSpPr>
          <p:nvPr/>
        </p:nvSpPr>
        <p:spPr>
          <a:xfrm xmlns:a="http://schemas.openxmlformats.org/drawingml/2006/main">
            <a:off x="6286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Scope and usage rights live in documents</a:t>
            </a:r>
          </a:p>
        </p:txBody>
      </p:sp>
      <p:sp>
        <p:nvSpPr>
          <p:cNvPr id="9" name="">
            <a:extLst xmlns:a="http://schemas.openxmlformats.org/drawingml/2006/main">
              <a:ext uri="{FF2B5EF4-FFF2-40B4-BE49-F238E27FC236}">
                <a16:creationId xmlns:a16="http://schemas.microsoft.com/office/drawing/2014/main" id="{7918CFA4-253C-4C80-A2FF-22A592C26F3D}"/>
              </a:ext>
            </a:extLst>
          </p:cNvPr>
          <p:cNvSpPr>
            <a:spLocks xmlns:a="http://schemas.openxmlformats.org/drawingml/2006/main" noGrp="1"/>
          </p:cNvSpPr>
          <p:nvPr/>
        </p:nvSpPr>
        <p:spPr>
          <a:xfrm xmlns:a="http://schemas.openxmlformats.org/drawingml/2006/main">
            <a:off x="34671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8FE3CF"/>
                </a:solidFill>
                <a:latin typeface="Arial"/>
                <a:ea typeface="Arial"/>
                <a:cs typeface="Arial"/>
              </a:defRPr>
            </a:pPr>
            <a:r>
              <a:rPr sz="2250" b="1">
                <a:solidFill>
                  <a:srgbClr val="8FE3C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3C81F74-87DF-47C0-83A5-22A0AEE80CDF}"/>
              </a:ext>
            </a:extLst>
          </p:cNvPr>
          <p:cNvSpPr>
            <a:spLocks xmlns:a="http://schemas.openxmlformats.org/drawingml/2006/main" noGrp="1"/>
          </p:cNvSpPr>
          <p:nvPr/>
        </p:nvSpPr>
        <p:spPr>
          <a:xfrm xmlns:a="http://schemas.openxmlformats.org/drawingml/2006/main">
            <a:off x="34671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B1FAF49E-8E4B-4BAE-833D-D9E6B5059EEC}"/>
              </a:ext>
            </a:extLst>
          </p:cNvPr>
          <p:cNvSpPr>
            <a:spLocks xmlns:a="http://schemas.openxmlformats.org/drawingml/2006/main" noGrp="1"/>
          </p:cNvSpPr>
          <p:nvPr/>
        </p:nvSpPr>
        <p:spPr>
          <a:xfrm xmlns:a="http://schemas.openxmlformats.org/drawingml/2006/main">
            <a:off x="34671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Creator team</a:t>
            </a:r>
          </a:p>
        </p:txBody>
      </p:sp>
      <p:sp>
        <p:nvSpPr>
          <p:cNvPr id="12" name="">
            <a:extLst xmlns:a="http://schemas.openxmlformats.org/drawingml/2006/main">
              <a:ext uri="{FF2B5EF4-FFF2-40B4-BE49-F238E27FC236}">
                <a16:creationId xmlns:a16="http://schemas.microsoft.com/office/drawing/2014/main" id="{56CA94C1-8F89-4DD2-BA93-56CFBD0314CA}"/>
              </a:ext>
            </a:extLst>
          </p:cNvPr>
          <p:cNvSpPr>
            <a:spLocks xmlns:a="http://schemas.openxmlformats.org/drawingml/2006/main" noGrp="1"/>
          </p:cNvSpPr>
          <p:nvPr/>
        </p:nvSpPr>
        <p:spPr>
          <a:xfrm xmlns:a="http://schemas.openxmlformats.org/drawingml/2006/main">
            <a:off x="34671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Roster decisions happen in spreadsheets</a:t>
            </a:r>
          </a:p>
        </p:txBody>
      </p:sp>
      <p:sp>
        <p:nvSpPr>
          <p:cNvPr id="13" name="">
            <a:extLst xmlns:a="http://schemas.openxmlformats.org/drawingml/2006/main">
              <a:ext uri="{FF2B5EF4-FFF2-40B4-BE49-F238E27FC236}">
                <a16:creationId xmlns:a16="http://schemas.microsoft.com/office/drawing/2014/main" id="{B44D405A-9D1E-47FF-8CC9-89C8665D1689}"/>
              </a:ext>
            </a:extLst>
          </p:cNvPr>
          <p:cNvSpPr>
            <a:spLocks xmlns:a="http://schemas.openxmlformats.org/drawingml/2006/main" noGrp="1"/>
          </p:cNvSpPr>
          <p:nvPr/>
        </p:nvSpPr>
        <p:spPr>
          <a:xfrm xmlns:a="http://schemas.openxmlformats.org/drawingml/2006/main">
            <a:off x="63055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D4F973"/>
                </a:solidFill>
                <a:latin typeface="Arial"/>
                <a:ea typeface="Arial"/>
                <a:cs typeface="Arial"/>
              </a:defRPr>
            </a:pPr>
            <a:r>
              <a:rPr sz="2250" b="1">
                <a:solidFill>
                  <a:srgbClr val="D4F97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E0C937E1-B3CD-4ACE-8665-31ACF3182835}"/>
              </a:ext>
            </a:extLst>
          </p:cNvPr>
          <p:cNvSpPr>
            <a:spLocks xmlns:a="http://schemas.openxmlformats.org/drawingml/2006/main" noGrp="1"/>
          </p:cNvSpPr>
          <p:nvPr/>
        </p:nvSpPr>
        <p:spPr>
          <a:xfrm xmlns:a="http://schemas.openxmlformats.org/drawingml/2006/main">
            <a:off x="63055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5" name="">
            <a:extLst xmlns:a="http://schemas.openxmlformats.org/drawingml/2006/main">
              <a:ext uri="{FF2B5EF4-FFF2-40B4-BE49-F238E27FC236}">
                <a16:creationId xmlns:a16="http://schemas.microsoft.com/office/drawing/2014/main" id="{1904088A-8436-40FB-8923-2F0523858BE6}"/>
              </a:ext>
            </a:extLst>
          </p:cNvPr>
          <p:cNvSpPr>
            <a:spLocks xmlns:a="http://schemas.openxmlformats.org/drawingml/2006/main" noGrp="1"/>
          </p:cNvSpPr>
          <p:nvPr/>
        </p:nvSpPr>
        <p:spPr>
          <a:xfrm xmlns:a="http://schemas.openxmlformats.org/drawingml/2006/main">
            <a:off x="63055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Approvals</a:t>
            </a:r>
          </a:p>
        </p:txBody>
      </p:sp>
      <p:sp>
        <p:nvSpPr>
          <p:cNvPr id="16" name="">
            <a:extLst xmlns:a="http://schemas.openxmlformats.org/drawingml/2006/main">
              <a:ext uri="{FF2B5EF4-FFF2-40B4-BE49-F238E27FC236}">
                <a16:creationId xmlns:a16="http://schemas.microsoft.com/office/drawing/2014/main" id="{66A10771-40B5-4742-8A99-6F7B57F51C41}"/>
              </a:ext>
            </a:extLst>
          </p:cNvPr>
          <p:cNvSpPr>
            <a:spLocks xmlns:a="http://schemas.openxmlformats.org/drawingml/2006/main" noGrp="1"/>
          </p:cNvSpPr>
          <p:nvPr/>
        </p:nvSpPr>
        <p:spPr>
          <a:xfrm xmlns:a="http://schemas.openxmlformats.org/drawingml/2006/main">
            <a:off x="63055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Feedback moves through chat and email</a:t>
            </a:r>
          </a:p>
        </p:txBody>
      </p:sp>
      <p:sp>
        <p:nvSpPr>
          <p:cNvPr id="17" name="">
            <a:extLst xmlns:a="http://schemas.openxmlformats.org/drawingml/2006/main">
              <a:ext uri="{FF2B5EF4-FFF2-40B4-BE49-F238E27FC236}">
                <a16:creationId xmlns:a16="http://schemas.microsoft.com/office/drawing/2014/main" id="{BC669BF2-7F90-417D-8EA1-1990694ED009}"/>
              </a:ext>
            </a:extLst>
          </p:cNvPr>
          <p:cNvSpPr>
            <a:spLocks xmlns:a="http://schemas.openxmlformats.org/drawingml/2006/main" noGrp="1"/>
          </p:cNvSpPr>
          <p:nvPr/>
        </p:nvSpPr>
        <p:spPr>
          <a:xfrm xmlns:a="http://schemas.openxmlformats.org/drawingml/2006/main">
            <a:off x="91440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07540FCD-0EF6-4238-85C5-35DB8A379588}"/>
              </a:ext>
            </a:extLst>
          </p:cNvPr>
          <p:cNvSpPr>
            <a:spLocks xmlns:a="http://schemas.openxmlformats.org/drawingml/2006/main" noGrp="1"/>
          </p:cNvSpPr>
          <p:nvPr/>
        </p:nvSpPr>
        <p:spPr>
          <a:xfrm xmlns:a="http://schemas.openxmlformats.org/drawingml/2006/main">
            <a:off x="91440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9" name="">
            <a:extLst xmlns:a="http://schemas.openxmlformats.org/drawingml/2006/main">
              <a:ext uri="{FF2B5EF4-FFF2-40B4-BE49-F238E27FC236}">
                <a16:creationId xmlns:a16="http://schemas.microsoft.com/office/drawing/2014/main" id="{2D094B62-B420-4352-B196-BE978EA21121}"/>
              </a:ext>
            </a:extLst>
          </p:cNvPr>
          <p:cNvSpPr>
            <a:spLocks xmlns:a="http://schemas.openxmlformats.org/drawingml/2006/main" noGrp="1"/>
          </p:cNvSpPr>
          <p:nvPr/>
        </p:nvSpPr>
        <p:spPr>
          <a:xfrm xmlns:a="http://schemas.openxmlformats.org/drawingml/2006/main">
            <a:off x="91440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Proof and payment</a:t>
            </a:r>
          </a:p>
        </p:txBody>
      </p:sp>
      <p:sp>
        <p:nvSpPr>
          <p:cNvPr id="20" name="">
            <a:extLst xmlns:a="http://schemas.openxmlformats.org/drawingml/2006/main">
              <a:ext uri="{FF2B5EF4-FFF2-40B4-BE49-F238E27FC236}">
                <a16:creationId xmlns:a16="http://schemas.microsoft.com/office/drawing/2014/main" id="{774CC17F-E3D1-47F5-A239-33F513274575}"/>
              </a:ext>
            </a:extLst>
          </p:cNvPr>
          <p:cNvSpPr>
            <a:spLocks xmlns:a="http://schemas.openxmlformats.org/drawingml/2006/main" noGrp="1"/>
          </p:cNvSpPr>
          <p:nvPr/>
        </p:nvSpPr>
        <p:spPr>
          <a:xfrm xmlns:a="http://schemas.openxmlformats.org/drawingml/2006/main">
            <a:off x="91440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Performance and invoices arrive later</a:t>
            </a:r>
          </a:p>
        </p:txBody>
      </p:sp>
      <p:sp>
        <p:nvSpPr>
          <p:cNvPr id="21" name="">
            <a:extLst xmlns:a="http://schemas.openxmlformats.org/drawingml/2006/main">
              <a:ext uri="{FF2B5EF4-FFF2-40B4-BE49-F238E27FC236}">
                <a16:creationId xmlns:a16="http://schemas.microsoft.com/office/drawing/2014/main" id="{A0F1E2D7-463A-4533-8017-24C10E032854}"/>
              </a:ext>
            </a:extLst>
          </p:cNvPr>
          <p:cNvSpPr>
            <a:spLocks xmlns:a="http://schemas.openxmlformats.org/drawingml/2006/main" noGrp="1"/>
          </p:cNvSpPr>
          <p:nvPr/>
        </p:nvSpPr>
        <p:spPr>
          <a:xfrm xmlns:a="http://schemas.openxmlformats.org/drawingml/2006/main">
            <a:off x="628650" y="5257800"/>
            <a:ext cx="38100" cy="5334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22" name="">
            <a:extLst xmlns:a="http://schemas.openxmlformats.org/drawingml/2006/main">
              <a:ext uri="{FF2B5EF4-FFF2-40B4-BE49-F238E27FC236}">
                <a16:creationId xmlns:a16="http://schemas.microsoft.com/office/drawing/2014/main" id="{E96BB5AE-87FF-4779-8683-C38E232F3CE7}"/>
              </a:ext>
            </a:extLst>
          </p:cNvPr>
          <p:cNvSpPr>
            <a:spLocks xmlns:a="http://schemas.openxmlformats.org/drawingml/2006/main" noGrp="1"/>
          </p:cNvSpPr>
          <p:nvPr/>
        </p:nvSpPr>
        <p:spPr>
          <a:xfrm xmlns:a="http://schemas.openxmlformats.org/drawingml/2006/main">
            <a:off x="857250" y="521970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No participant sees the same campaign state at the same time.</a:t>
            </a:r>
          </a:p>
        </p:txBody>
      </p:sp>
      <p:sp>
        <p:nvSpPr>
          <p:cNvPr id="23" name="">
            <a:extLst xmlns:a="http://schemas.openxmlformats.org/drawingml/2006/main">
              <a:ext uri="{FF2B5EF4-FFF2-40B4-BE49-F238E27FC236}">
                <a16:creationId xmlns:a16="http://schemas.microsoft.com/office/drawing/2014/main" id="{FAFE92D5-4952-46AA-B83C-533E7D6DA385}"/>
              </a:ext>
            </a:extLst>
          </p:cNvPr>
          <p:cNvSpPr>
            <a:spLocks xmlns:a="http://schemas.openxmlformats.org/drawingml/2006/main" noGrp="1"/>
          </p:cNvSpPr>
          <p:nvPr/>
        </p:nvSpPr>
        <p:spPr>
          <a:xfrm xmlns:a="http://schemas.openxmlformats.org/drawingml/2006/main">
            <a:off x="628650" y="5905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The cost shows up as follow-ups, slow approvals, disputed results and delayed payment decisions.</a:t>
            </a:r>
          </a:p>
        </p:txBody>
      </p:sp>
    </p:spTree>
    <p:extLst>
      <p:ext uri="{BB962C8B-B14F-4D97-AF65-F5344CB8AC3E}">
        <p14:creationId xmlns:p14="http://schemas.microsoft.com/office/powerpoint/2010/main" val="1573324541"/>
      </p:ext>
    </p:extLst>
  </p:cSld>
</p:sld>
</file>

<file path=ppt/slides/slide4.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4abfc592d784d3d"/>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B9E374-C605-4C2A-992E-AA6E55DAF3DC}"/>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818AEB5-07D7-4749-9D83-C166308DB9F9}"/>
              </a:ext>
            </a:extLst>
          </p:cNvPr>
          <p:cNvSpPr>
            <a:spLocks xmlns:a="http://schemas.openxmlformats.org/drawingml/2006/main" noGrp="1"/>
          </p:cNvSpPr>
          <p:nvPr/>
        </p:nvSpPr>
        <p:spPr>
          <a:xfrm xmlns:a="http://schemas.openxmlformats.org/drawingml/2006/main">
            <a:off x="609600" y="1028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THE CCF MODEL</a:t>
            </a:r>
          </a:p>
        </p:txBody>
      </p:sp>
      <p:sp>
        <p:nvSpPr>
          <p:cNvPr id="4" name="">
            <a:extLst xmlns:a="http://schemas.openxmlformats.org/drawingml/2006/main">
              <a:ext uri="{FF2B5EF4-FFF2-40B4-BE49-F238E27FC236}">
                <a16:creationId xmlns:a16="http://schemas.microsoft.com/office/drawing/2014/main" id="{5462A910-8BA0-49DE-B379-09316B84DE7C}"/>
              </a:ext>
            </a:extLst>
          </p:cNvPr>
          <p:cNvSpPr>
            <a:spLocks xmlns:a="http://schemas.openxmlformats.org/drawingml/2006/main" noGrp="1"/>
          </p:cNvSpPr>
          <p:nvPr/>
        </p:nvSpPr>
        <p:spPr>
          <a:xfrm xmlns:a="http://schemas.openxmlformats.org/drawingml/2006/main">
            <a:off x="609600" y="13335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61"/>
          </a:bodyPr>
          <a:lstStyle xmlns:a="http://schemas.openxmlformats.org/drawingml/2006/main"/>
          <a:p xmlns:a="http://schemas.openxmlformats.org/drawingml/2006/main">
            <a:pPr algn="l">
              <a:defRPr sz="3600" b="1">
                <a:solidFill>
                  <a:srgbClr val="172016"/>
                </a:solidFill>
                <a:latin typeface="Arial"/>
                <a:ea typeface="Arial"/>
                <a:cs typeface="Arial"/>
              </a:defRPr>
            </a:pPr>
            <a:r>
              <a:rPr sz="3600" b="1">
                <a:solidFill>
                  <a:srgbClr val="172016"/>
                </a:solidFill>
                <a:latin typeface="Arial"/>
                <a:ea typeface="Arial"/>
                <a:cs typeface="Arial"/>
              </a:rPr>
              <a:t>One campaign record with controlled views</a:t>
            </a:r>
          </a:p>
        </p:txBody>
      </p:sp>
      <p:sp>
        <p:nvSpPr>
          <p:cNvPr id="5" name="">
            <a:extLst xmlns:a="http://schemas.openxmlformats.org/drawingml/2006/main">
              <a:ext uri="{FF2B5EF4-FFF2-40B4-BE49-F238E27FC236}">
                <a16:creationId xmlns:a16="http://schemas.microsoft.com/office/drawing/2014/main" id="{865A7823-0B61-477F-A4C1-BEFE35E7C7ED}"/>
              </a:ext>
            </a:extLst>
          </p:cNvPr>
          <p:cNvSpPr>
            <a:spLocks xmlns:a="http://schemas.openxmlformats.org/drawingml/2006/main" noGrp="1"/>
          </p:cNvSpPr>
          <p:nvPr/>
        </p:nvSpPr>
        <p:spPr>
          <a:xfrm xmlns:a="http://schemas.openxmlformats.org/drawingml/2006/main">
            <a:off x="4362450" y="2514600"/>
            <a:ext cx="3467100" cy="1695450"/>
          </a:xfrm>
          <a:prstGeom xmlns:a="http://schemas.openxmlformats.org/drawingml/2006/main" prst="roundRect">
            <a:avLst>
              <a:gd name="adj" fmla="val 13483"/>
            </a:avLst>
          </a:prstGeom>
          <a:solidFill xmlns:a="http://schemas.openxmlformats.org/drawingml/2006/main">
            <a:srgbClr val="1A251A"/>
          </a:solidFill>
          <a:ln xmlns:a="http://schemas.openxmlformats.org/drawingml/2006/main" w="9525">
            <a:solidFill>
              <a:srgbClr val="314333"/>
            </a:solidFill>
          </a:ln>
        </p:spPr>
      </p:sp>
      <p:sp>
        <p:nvSpPr>
          <p:cNvPr id="6" name="">
            <a:extLst xmlns:a="http://schemas.openxmlformats.org/drawingml/2006/main">
              <a:ext uri="{FF2B5EF4-FFF2-40B4-BE49-F238E27FC236}">
                <a16:creationId xmlns:a16="http://schemas.microsoft.com/office/drawing/2014/main" id="{B028F696-5E8C-4967-9B97-1DE0F2AFF294}"/>
              </a:ext>
            </a:extLst>
          </p:cNvPr>
          <p:cNvSpPr>
            <a:spLocks xmlns:a="http://schemas.openxmlformats.org/drawingml/2006/main" noGrp="1"/>
          </p:cNvSpPr>
          <p:nvPr/>
        </p:nvSpPr>
        <p:spPr>
          <a:xfrm xmlns:a="http://schemas.openxmlformats.org/drawingml/2006/main">
            <a:off x="4762500" y="27813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D4F973"/>
                </a:solidFill>
                <a:latin typeface="Arial"/>
                <a:ea typeface="Arial"/>
                <a:cs typeface="Arial"/>
              </a:defRPr>
            </a:pPr>
            <a:r>
              <a:rPr sz="975" b="1">
                <a:solidFill>
                  <a:srgbClr val="D4F973"/>
                </a:solidFill>
                <a:latin typeface="Arial"/>
                <a:ea typeface="Arial"/>
                <a:cs typeface="Arial"/>
              </a:rPr>
              <a:t>SHARED CAMPAIGN</a:t>
            </a:r>
          </a:p>
        </p:txBody>
      </p:sp>
      <p:sp>
        <p:nvSpPr>
          <p:cNvPr id="7" name="">
            <a:extLst xmlns:a="http://schemas.openxmlformats.org/drawingml/2006/main">
              <a:ext uri="{FF2B5EF4-FFF2-40B4-BE49-F238E27FC236}">
                <a16:creationId xmlns:a16="http://schemas.microsoft.com/office/drawing/2014/main" id="{6C91F0E8-6878-449C-9D61-EB8BFC672FE8}"/>
              </a:ext>
            </a:extLst>
          </p:cNvPr>
          <p:cNvSpPr>
            <a:spLocks xmlns:a="http://schemas.openxmlformats.org/drawingml/2006/main" noGrp="1"/>
          </p:cNvSpPr>
          <p:nvPr/>
        </p:nvSpPr>
        <p:spPr>
          <a:xfrm xmlns:a="http://schemas.openxmlformats.org/drawingml/2006/main">
            <a:off x="4762500" y="31813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00"/>
          </a:bodyPr>
          <a:lstStyle xmlns:a="http://schemas.openxmlformats.org/drawingml/2006/main"/>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Brief</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Deliverables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Milestones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Payment status</a:t>
            </a:r>
          </a:p>
        </p:txBody>
      </p:sp>
      <p:sp>
        <p:nvSpPr>
          <p:cNvPr id="8" name="">
            <a:extLst xmlns:a="http://schemas.openxmlformats.org/drawingml/2006/main">
              <a:ext uri="{FF2B5EF4-FFF2-40B4-BE49-F238E27FC236}">
                <a16:creationId xmlns:a16="http://schemas.microsoft.com/office/drawing/2014/main" id="{5A225694-F37B-4791-A8FA-0B1D6EACB8D7}"/>
              </a:ext>
            </a:extLst>
          </p:cNvPr>
          <p:cNvSpPr>
            <a:spLocks xmlns:a="http://schemas.openxmlformats.org/drawingml/2006/main" noGrp="1"/>
          </p:cNvSpPr>
          <p:nvPr/>
        </p:nvSpPr>
        <p:spPr>
          <a:xfrm xmlns:a="http://schemas.openxmlformats.org/drawingml/2006/main">
            <a:off x="666750" y="2781300"/>
            <a:ext cx="2857500" cy="1238250"/>
          </a:xfrm>
          <a:prstGeom xmlns:a="http://schemas.openxmlformats.org/drawingml/2006/main" prst="roundRect">
            <a:avLst>
              <a:gd name="adj" fmla="val 15385"/>
            </a:avLst>
          </a:prstGeom>
          <a:solidFill xmlns:a="http://schemas.openxmlformats.org/drawingml/2006/main">
            <a:srgbClr val="E9F6C9"/>
          </a:solidFill>
          <a:ln xmlns:a="http://schemas.openxmlformats.org/drawingml/2006/main" w="9525">
            <a:solidFill>
              <a:srgbClr val="B5D866"/>
            </a:solidFill>
          </a:ln>
        </p:spPr>
      </p:sp>
      <p:sp>
        <p:nvSpPr>
          <p:cNvPr id="9" name="">
            <a:extLst xmlns:a="http://schemas.openxmlformats.org/drawingml/2006/main">
              <a:ext uri="{FF2B5EF4-FFF2-40B4-BE49-F238E27FC236}">
                <a16:creationId xmlns:a16="http://schemas.microsoft.com/office/drawing/2014/main" id="{6621533F-FAC8-4DE6-BF69-A1663E958441}"/>
              </a:ext>
            </a:extLst>
          </p:cNvPr>
          <p:cNvSpPr>
            <a:spLocks xmlns:a="http://schemas.openxmlformats.org/drawingml/2006/main" noGrp="1"/>
          </p:cNvSpPr>
          <p:nvPr/>
        </p:nvSpPr>
        <p:spPr>
          <a:xfrm xmlns:a="http://schemas.openxmlformats.org/drawingml/2006/main">
            <a:off x="933450" y="29718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Creator</a:t>
            </a:r>
          </a:p>
        </p:txBody>
      </p:sp>
      <p:sp>
        <p:nvSpPr>
          <p:cNvPr id="10" name="">
            <a:extLst xmlns:a="http://schemas.openxmlformats.org/drawingml/2006/main">
              <a:ext uri="{FF2B5EF4-FFF2-40B4-BE49-F238E27FC236}">
                <a16:creationId xmlns:a16="http://schemas.microsoft.com/office/drawing/2014/main" id="{5A423DE4-0174-4C82-A502-8B94638C1B82}"/>
              </a:ext>
            </a:extLst>
          </p:cNvPr>
          <p:cNvSpPr>
            <a:spLocks xmlns:a="http://schemas.openxmlformats.org/drawingml/2006/main" noGrp="1"/>
          </p:cNvSpPr>
          <p:nvPr/>
        </p:nvSpPr>
        <p:spPr>
          <a:xfrm xmlns:a="http://schemas.openxmlformats.org/drawingml/2006/main">
            <a:off x="933450" y="33909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Own fee, tasks, content and invoice</a:t>
            </a:r>
          </a:p>
        </p:txBody>
      </p:sp>
      <p:sp>
        <p:nvSpPr>
          <p:cNvPr id="11" name="">
            <a:extLst xmlns:a="http://schemas.openxmlformats.org/drawingml/2006/main">
              <a:ext uri="{FF2B5EF4-FFF2-40B4-BE49-F238E27FC236}">
                <a16:creationId xmlns:a16="http://schemas.microsoft.com/office/drawing/2014/main" id="{7ED0B4E1-96A0-47F4-BEEE-40FB8465A1E9}"/>
              </a:ext>
            </a:extLst>
          </p:cNvPr>
          <p:cNvSpPr>
            <a:spLocks xmlns:a="http://schemas.openxmlformats.org/drawingml/2006/main" noGrp="1"/>
          </p:cNvSpPr>
          <p:nvPr/>
        </p:nvSpPr>
        <p:spPr>
          <a:xfrm xmlns:a="http://schemas.openxmlformats.org/drawingml/2006/main">
            <a:off x="8667750" y="2343150"/>
            <a:ext cx="2857500" cy="1238250"/>
          </a:xfrm>
          <a:prstGeom xmlns:a="http://schemas.openxmlformats.org/drawingml/2006/main" prst="roundRect">
            <a:avLst>
              <a:gd name="adj" fmla="val 15385"/>
            </a:avLst>
          </a:prstGeom>
          <a:solidFill xmlns:a="http://schemas.openxmlformats.org/drawingml/2006/main">
            <a:srgbClr val="DDF4EE"/>
          </a:solidFill>
          <a:ln xmlns:a="http://schemas.openxmlformats.org/drawingml/2006/main" w="9525">
            <a:solidFill>
              <a:srgbClr val="8FCFBE"/>
            </a:solidFill>
          </a:ln>
        </p:spPr>
      </p:sp>
      <p:sp>
        <p:nvSpPr>
          <p:cNvPr id="12" name="">
            <a:extLst xmlns:a="http://schemas.openxmlformats.org/drawingml/2006/main">
              <a:ext uri="{FF2B5EF4-FFF2-40B4-BE49-F238E27FC236}">
                <a16:creationId xmlns:a16="http://schemas.microsoft.com/office/drawing/2014/main" id="{7B6050E7-0821-45F2-AC7B-0A2DAB685F84}"/>
              </a:ext>
            </a:extLst>
          </p:cNvPr>
          <p:cNvSpPr>
            <a:spLocks xmlns:a="http://schemas.openxmlformats.org/drawingml/2006/main" noGrp="1"/>
          </p:cNvSpPr>
          <p:nvPr/>
        </p:nvSpPr>
        <p:spPr>
          <a:xfrm xmlns:a="http://schemas.openxmlformats.org/drawingml/2006/main">
            <a:off x="8934450" y="25336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a:t>
            </a:r>
          </a:p>
        </p:txBody>
      </p:sp>
      <p:sp>
        <p:nvSpPr>
          <p:cNvPr id="13" name="">
            <a:extLst xmlns:a="http://schemas.openxmlformats.org/drawingml/2006/main">
              <a:ext uri="{FF2B5EF4-FFF2-40B4-BE49-F238E27FC236}">
                <a16:creationId xmlns:a16="http://schemas.microsoft.com/office/drawing/2014/main" id="{B3E2C41A-257C-47B6-BBA0-60EAC247FCDE}"/>
              </a:ext>
            </a:extLst>
          </p:cNvPr>
          <p:cNvSpPr>
            <a:spLocks xmlns:a="http://schemas.openxmlformats.org/drawingml/2006/main" noGrp="1"/>
          </p:cNvSpPr>
          <p:nvPr/>
        </p:nvSpPr>
        <p:spPr>
          <a:xfrm xmlns:a="http://schemas.openxmlformats.org/drawingml/2006/main">
            <a:off x="8934450" y="2952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Roster, review queue and campaign budget</a:t>
            </a:r>
          </a:p>
        </p:txBody>
      </p:sp>
      <p:sp>
        <p:nvSpPr>
          <p:cNvPr id="14" name="">
            <a:extLst xmlns:a="http://schemas.openxmlformats.org/drawingml/2006/main">
              <a:ext uri="{FF2B5EF4-FFF2-40B4-BE49-F238E27FC236}">
                <a16:creationId xmlns:a16="http://schemas.microsoft.com/office/drawing/2014/main" id="{97E75F76-B372-492B-B009-7E0083079541}"/>
              </a:ext>
            </a:extLst>
          </p:cNvPr>
          <p:cNvSpPr>
            <a:spLocks xmlns:a="http://schemas.openxmlformats.org/drawingml/2006/main" noGrp="1"/>
          </p:cNvSpPr>
          <p:nvPr/>
        </p:nvSpPr>
        <p:spPr>
          <a:xfrm xmlns:a="http://schemas.openxmlformats.org/drawingml/2006/main">
            <a:off x="8667750" y="4171950"/>
            <a:ext cx="2857500" cy="1238250"/>
          </a:xfrm>
          <a:prstGeom xmlns:a="http://schemas.openxmlformats.org/drawingml/2006/main" prst="roundRect">
            <a:avLst>
              <a:gd name="adj" fmla="val 15385"/>
            </a:avLst>
          </a:prstGeom>
          <a:solidFill xmlns:a="http://schemas.openxmlformats.org/drawingml/2006/main">
            <a:srgbClr val="F8E6CC"/>
          </a:solidFill>
          <a:ln xmlns:a="http://schemas.openxmlformats.org/drawingml/2006/main" w="9525">
            <a:solidFill>
              <a:srgbClr val="DFB87F"/>
            </a:solidFill>
          </a:ln>
        </p:spPr>
      </p:sp>
      <p:sp>
        <p:nvSpPr>
          <p:cNvPr id="15" name="">
            <a:extLst xmlns:a="http://schemas.openxmlformats.org/drawingml/2006/main">
              <a:ext uri="{FF2B5EF4-FFF2-40B4-BE49-F238E27FC236}">
                <a16:creationId xmlns:a16="http://schemas.microsoft.com/office/drawing/2014/main" id="{EF0AC63F-D80D-4992-BCE7-5BCBCFC3C5C0}"/>
              </a:ext>
            </a:extLst>
          </p:cNvPr>
          <p:cNvSpPr>
            <a:spLocks xmlns:a="http://schemas.openxmlformats.org/drawingml/2006/main" noGrp="1"/>
          </p:cNvSpPr>
          <p:nvPr/>
        </p:nvSpPr>
        <p:spPr>
          <a:xfrm xmlns:a="http://schemas.openxmlformats.org/drawingml/2006/main">
            <a:off x="8934450" y="43624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a:t>
            </a:r>
          </a:p>
        </p:txBody>
      </p:sp>
      <p:sp>
        <p:nvSpPr>
          <p:cNvPr id="16" name="">
            <a:extLst xmlns:a="http://schemas.openxmlformats.org/drawingml/2006/main">
              <a:ext uri="{FF2B5EF4-FFF2-40B4-BE49-F238E27FC236}">
                <a16:creationId xmlns:a16="http://schemas.microsoft.com/office/drawing/2014/main" id="{A4C25284-4A74-48E4-BBB8-6127AE8DB9A4}"/>
              </a:ext>
            </a:extLst>
          </p:cNvPr>
          <p:cNvSpPr>
            <a:spLocks xmlns:a="http://schemas.openxmlformats.org/drawingml/2006/main" noGrp="1"/>
          </p:cNvSpPr>
          <p:nvPr/>
        </p:nvSpPr>
        <p:spPr>
          <a:xfrm xmlns:a="http://schemas.openxmlformats.org/drawingml/2006/main">
            <a:off x="8934450" y="47815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Campaign spend, approvals and performance</a:t>
            </a:r>
          </a:p>
        </p:txBody>
      </p:sp>
      <p:sp>
        <p:nvSpPr>
          <p:cNvPr id="17" name="">
            <a:extLst xmlns:a="http://schemas.openxmlformats.org/drawingml/2006/main">
              <a:ext uri="{FF2B5EF4-FFF2-40B4-BE49-F238E27FC236}">
                <a16:creationId xmlns:a16="http://schemas.microsoft.com/office/drawing/2014/main" id="{FE28AAAE-56DA-4133-85DF-B25287F3F6AA}"/>
              </a:ext>
            </a:extLst>
          </p:cNvPr>
          <p:cNvSpPr>
            <a:spLocks xmlns:a="http://schemas.openxmlformats.org/drawingml/2006/main" noGrp="1"/>
          </p:cNvSpPr>
          <p:nvPr/>
        </p:nvSpPr>
        <p:spPr>
          <a:xfrm xmlns:a="http://schemas.openxmlformats.org/drawingml/2006/main">
            <a:off x="3524250" y="3400425"/>
            <a:ext cx="838200" cy="0"/>
          </a:xfrm>
          <a:prstGeom xmlns:a="http://schemas.openxmlformats.org/drawingml/2006/main" prst="line">
            <a:avLst/>
          </a:prstGeom>
          <a:noFill xmlns:a="http://schemas.openxmlformats.org/drawingml/2006/main"/>
          <a:ln xmlns:a="http://schemas.openxmlformats.org/drawingml/2006/main" w="19050">
            <a:solidFill>
              <a:srgbClr val="8AA05F"/>
            </a:solidFill>
          </a:ln>
        </p:spPr>
      </p:sp>
      <p:sp>
        <p:nvSpPr>
          <p:cNvPr id="18" name="">
            <a:extLst xmlns:a="http://schemas.openxmlformats.org/drawingml/2006/main">
              <a:ext uri="{FF2B5EF4-FFF2-40B4-BE49-F238E27FC236}">
                <a16:creationId xmlns:a16="http://schemas.microsoft.com/office/drawing/2014/main" id="{5543221F-FAAA-48EA-AFBA-36D9C814665E}"/>
              </a:ext>
            </a:extLst>
          </p:cNvPr>
          <p:cNvSpPr>
            <a:spLocks xmlns:a="http://schemas.openxmlformats.org/drawingml/2006/main" noGrp="1"/>
          </p:cNvSpPr>
          <p:nvPr/>
        </p:nvSpPr>
        <p:spPr>
          <a:xfrm xmlns:a="http://schemas.openxmlformats.org/drawingml/2006/main">
            <a:off x="7829550" y="3038475"/>
            <a:ext cx="838200" cy="0"/>
          </a:xfrm>
          <a:prstGeom xmlns:a="http://schemas.openxmlformats.org/drawingml/2006/main" prst="line">
            <a:avLst/>
          </a:prstGeom>
          <a:noFill xmlns:a="http://schemas.openxmlformats.org/drawingml/2006/main"/>
          <a:ln xmlns:a="http://schemas.openxmlformats.org/drawingml/2006/main" w="19050">
            <a:solidFill>
              <a:srgbClr val="76AF9E"/>
            </a:solidFill>
          </a:ln>
        </p:spPr>
      </p:sp>
      <p:sp>
        <p:nvSpPr>
          <p:cNvPr id="19" name="">
            <a:extLst xmlns:a="http://schemas.openxmlformats.org/drawingml/2006/main">
              <a:ext uri="{FF2B5EF4-FFF2-40B4-BE49-F238E27FC236}">
                <a16:creationId xmlns:a16="http://schemas.microsoft.com/office/drawing/2014/main" id="{F10D1CAD-34FB-492D-A2CE-ABA899CFF9CF}"/>
              </a:ext>
            </a:extLst>
          </p:cNvPr>
          <p:cNvSpPr>
            <a:spLocks xmlns:a="http://schemas.openxmlformats.org/drawingml/2006/main" noGrp="1"/>
          </p:cNvSpPr>
          <p:nvPr/>
        </p:nvSpPr>
        <p:spPr>
          <a:xfrm xmlns:a="http://schemas.openxmlformats.org/drawingml/2006/main">
            <a:off x="7829550" y="3914775"/>
            <a:ext cx="457200" cy="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0" name="">
            <a:extLst xmlns:a="http://schemas.openxmlformats.org/drawingml/2006/main">
              <a:ext uri="{FF2B5EF4-FFF2-40B4-BE49-F238E27FC236}">
                <a16:creationId xmlns:a16="http://schemas.microsoft.com/office/drawing/2014/main" id="{F0A025B4-348C-4FFE-AA05-9CDA7079E750}"/>
              </a:ext>
            </a:extLst>
          </p:cNvPr>
          <p:cNvSpPr>
            <a:spLocks xmlns:a="http://schemas.openxmlformats.org/drawingml/2006/main" noGrp="1"/>
          </p:cNvSpPr>
          <p:nvPr/>
        </p:nvSpPr>
        <p:spPr>
          <a:xfrm xmlns:a="http://schemas.openxmlformats.org/drawingml/2006/main">
            <a:off x="8286750" y="3914775"/>
            <a:ext cx="0" cy="87630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1" name="">
            <a:extLst xmlns:a="http://schemas.openxmlformats.org/drawingml/2006/main">
              <a:ext uri="{FF2B5EF4-FFF2-40B4-BE49-F238E27FC236}">
                <a16:creationId xmlns:a16="http://schemas.microsoft.com/office/drawing/2014/main" id="{888700E6-9499-4075-A81B-A144E35A9B08}"/>
              </a:ext>
            </a:extLst>
          </p:cNvPr>
          <p:cNvSpPr>
            <a:spLocks xmlns:a="http://schemas.openxmlformats.org/drawingml/2006/main" noGrp="1"/>
          </p:cNvSpPr>
          <p:nvPr/>
        </p:nvSpPr>
        <p:spPr>
          <a:xfrm xmlns:a="http://schemas.openxmlformats.org/drawingml/2006/main">
            <a:off x="666750" y="58293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E5C49"/>
                </a:solidFill>
                <a:latin typeface="Arial"/>
                <a:ea typeface="Arial"/>
                <a:cs typeface="Arial"/>
              </a:defRPr>
            </a:pPr>
            <a:r>
              <a:rPr sz="1500" b="0">
                <a:solidFill>
                  <a:srgbClr val="4E5C49"/>
                </a:solidFill>
                <a:latin typeface="Arial"/>
                <a:ea typeface="Arial"/>
                <a:cs typeface="Arial"/>
              </a:rPr>
              <a:t>Creator consent limits social data to the campaign. Personal income and unrelated work stay private.</a:t>
            </a:r>
          </a:p>
        </p:txBody>
      </p:sp>
    </p:spTree>
    <p:extLst>
      <p:ext uri="{BB962C8B-B14F-4D97-AF65-F5344CB8AC3E}">
        <p14:creationId xmlns:p14="http://schemas.microsoft.com/office/powerpoint/2010/main" val="1783231252"/>
      </p:ext>
    </p:extLst>
  </p:cSld>
</p:sld>
</file>

<file path=ppt/slides/slide5.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4aad25703e14f0b"/>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8613D7-054D-4DB9-9567-E65456CE043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10CD7AB-8B32-4CDE-B575-B51120C5FA7E}"/>
              </a:ext>
            </a:extLst>
          </p:cNvPr>
          <p:cNvSpPr>
            <a:spLocks xmlns:a="http://schemas.openxmlformats.org/drawingml/2006/main" noGrp="1"/>
          </p:cNvSpPr>
          <p:nvPr/>
        </p:nvSpPr>
        <p:spPr>
          <a:xfrm xmlns:a="http://schemas.openxmlformats.org/drawingml/2006/main">
            <a:off x="609600" y="1000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ENTRY</a:t>
            </a:r>
          </a:p>
        </p:txBody>
      </p:sp>
      <p:sp>
        <p:nvSpPr>
          <p:cNvPr id="4" name="">
            <a:extLst xmlns:a="http://schemas.openxmlformats.org/drawingml/2006/main">
              <a:ext uri="{FF2B5EF4-FFF2-40B4-BE49-F238E27FC236}">
                <a16:creationId xmlns:a16="http://schemas.microsoft.com/office/drawing/2014/main" id="{5392ED3F-2E0E-4AC8-ACB9-114044913624}"/>
              </a:ext>
            </a:extLst>
          </p:cNvPr>
          <p:cNvSpPr>
            <a:spLocks xmlns:a="http://schemas.openxmlformats.org/drawingml/2006/main" noGrp="1"/>
          </p:cNvSpPr>
          <p:nvPr/>
        </p:nvSpPr>
        <p:spPr>
          <a:xfrm xmlns:a="http://schemas.openxmlformats.org/drawingml/2006/main">
            <a:off x="609600" y="13049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971"/>
          </a:bodyPr>
          <a:lstStyle xmlns:a="http://schemas.openxmlformats.org/drawingml/2006/main"/>
          <a:p xmlns:a="http://schemas.openxmlformats.org/drawingml/2006/main">
            <a:pPr algn="l">
              <a:defRPr sz="3225" b="1">
                <a:solidFill>
                  <a:srgbClr val="F4F7EF"/>
                </a:solidFill>
                <a:latin typeface="Arial"/>
                <a:ea typeface="Arial"/>
                <a:cs typeface="Arial"/>
              </a:defRPr>
            </a:pPr>
            <a:r>
              <a:rPr sz="3225" b="1">
                <a:solidFill>
                  <a:srgbClr val="F4F7EF"/>
                </a:solidFill>
                <a:latin typeface="Arial"/>
                <a:ea typeface="Arial"/>
                <a:cs typeface="Arial"/>
              </a:rPr>
              <a:t>The product explains its value before asking for details</a:t>
            </a:r>
          </a:p>
        </p:txBody>
      </p:sp>
      <p:sp>
        <p:nvSpPr>
          <p:cNvPr id="5" name="">
            <a:extLst xmlns:a="http://schemas.openxmlformats.org/drawingml/2006/main">
              <a:ext uri="{FF2B5EF4-FFF2-40B4-BE49-F238E27FC236}">
                <a16:creationId xmlns:a16="http://schemas.microsoft.com/office/drawing/2014/main" id="{C6E7C311-04B8-460A-ABBA-C1154CC82DEF}"/>
              </a:ext>
            </a:extLst>
          </p:cNvPr>
          <p:cNvSpPr>
            <a:spLocks xmlns:a="http://schemas.openxmlformats.org/drawingml/2006/main" noGrp="1"/>
          </p:cNvSpPr>
          <p:nvPr/>
        </p:nvSpPr>
        <p:spPr>
          <a:xfrm xmlns:a="http://schemas.openxmlformats.org/drawingml/2006/main">
            <a:off x="628650" y="20574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81"/>
          </a:bodyPr>
          <a:lstStyle xmlns:a="http://schemas.openxmlformats.org/drawingml/2006/main"/>
          <a:p xmlns:a="http://schemas.openxmlformats.org/drawingml/2006/main">
            <a:pPr algn="l">
              <a:defRPr sz="1725" b="0">
                <a:solidFill>
                  <a:srgbClr val="A4B09F"/>
                </a:solidFill>
                <a:latin typeface="Arial"/>
                <a:ea typeface="Arial"/>
                <a:cs typeface="Arial"/>
              </a:defRPr>
            </a:pPr>
            <a:r>
              <a:rPr sz="1725" b="0">
                <a:solidFill>
                  <a:srgbClr val="A4B09F"/>
                </a:solidFill>
                <a:latin typeface="Arial"/>
                <a:ea typeface="Arial"/>
                <a:cs typeface="Arial"/>
              </a:rPr>
              <a:t>Creators enter a private workspace with a clear three-step path.</a:t>
            </a:r>
          </a:p>
        </p:txBody>
      </p:sp>
      <p:sp>
        <p:nvSpPr>
          <p:cNvPr id="6" name="">
            <a:extLst xmlns:a="http://schemas.openxmlformats.org/drawingml/2006/main">
              <a:ext uri="{FF2B5EF4-FFF2-40B4-BE49-F238E27FC236}">
                <a16:creationId xmlns:a16="http://schemas.microsoft.com/office/drawing/2014/main" id="{A49A9366-63D6-49A5-AA05-45A8E6A2B6B3}"/>
              </a:ext>
            </a:extLst>
          </p:cNvPr>
          <p:cNvSpPr>
            <a:spLocks xmlns:a="http://schemas.openxmlformats.org/drawingml/2006/main" noGrp="1"/>
          </p:cNvSpPr>
          <p:nvPr/>
        </p:nvSpPr>
        <p:spPr>
          <a:xfrm xmlns:a="http://schemas.openxmlformats.org/drawingml/2006/main">
            <a:off x="628650" y="2933700"/>
            <a:ext cx="38100" cy="6096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7" name="">
            <a:extLst xmlns:a="http://schemas.openxmlformats.org/drawingml/2006/main">
              <a:ext uri="{FF2B5EF4-FFF2-40B4-BE49-F238E27FC236}">
                <a16:creationId xmlns:a16="http://schemas.microsoft.com/office/drawing/2014/main" id="{41D94567-8F0C-4C15-89AC-47CC9B9D9491}"/>
              </a:ext>
            </a:extLst>
          </p:cNvPr>
          <p:cNvSpPr>
            <a:spLocks xmlns:a="http://schemas.openxmlformats.org/drawingml/2006/main" noGrp="1"/>
          </p:cNvSpPr>
          <p:nvPr/>
        </p:nvSpPr>
        <p:spPr>
          <a:xfrm xmlns:a="http://schemas.openxmlformats.org/drawingml/2006/main">
            <a:off x="857250" y="28956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31"/>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Real account records stay separate from sample campaign data.</a:t>
            </a:r>
          </a:p>
        </p:txBody>
      </p:sp>
      <p:sp>
        <p:nvSpPr>
          <p:cNvPr id="8" name="">
            <a:extLst xmlns:a="http://schemas.openxmlformats.org/drawingml/2006/main">
              <a:ext uri="{FF2B5EF4-FFF2-40B4-BE49-F238E27FC236}">
                <a16:creationId xmlns:a16="http://schemas.microsoft.com/office/drawing/2014/main" id="{40993B82-7832-4054-B6F2-E69EE78B024D}"/>
              </a:ext>
            </a:extLst>
          </p:cNvPr>
          <p:cNvSpPr>
            <a:spLocks xmlns:a="http://schemas.openxmlformats.org/drawingml/2006/main" noGrp="1"/>
          </p:cNvSpPr>
          <p:nvPr/>
        </p:nvSpPr>
        <p:spPr>
          <a:xfrm xmlns:a="http://schemas.openxmlformats.org/drawingml/2006/main">
            <a:off x="628650" y="3895725"/>
            <a:ext cx="38100" cy="80010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9" name="">
            <a:extLst xmlns:a="http://schemas.openxmlformats.org/drawingml/2006/main">
              <a:ext uri="{FF2B5EF4-FFF2-40B4-BE49-F238E27FC236}">
                <a16:creationId xmlns:a16="http://schemas.microsoft.com/office/drawing/2014/main" id="{7F4896FE-FF2F-4FE4-B0DF-CA3722C0394A}"/>
              </a:ext>
            </a:extLst>
          </p:cNvPr>
          <p:cNvSpPr>
            <a:spLocks xmlns:a="http://schemas.openxmlformats.org/drawingml/2006/main" noGrp="1"/>
          </p:cNvSpPr>
          <p:nvPr/>
        </p:nvSpPr>
        <p:spPr>
          <a:xfrm xmlns:a="http://schemas.openxmlformats.org/drawingml/2006/main">
            <a:off x="857250" y="3857625"/>
            <a:ext cx="3771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7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pilot requires no card and keeps social access under creator consent.</a:t>
            </a:r>
          </a:p>
        </p:txBody>
      </p:sp>
      <p:sp>
        <p:nvSpPr>
          <p:cNvPr id="10" name="">
            <a:extLst xmlns:a="http://schemas.openxmlformats.org/drawingml/2006/main">
              <a:ext uri="{FF2B5EF4-FFF2-40B4-BE49-F238E27FC236}">
                <a16:creationId xmlns:a16="http://schemas.microsoft.com/office/drawing/2014/main" id="{1B875374-DF4D-4215-8E83-D2C2F5053C0B}"/>
              </a:ext>
            </a:extLst>
          </p:cNvPr>
          <p:cNvSpPr>
            <a:spLocks xmlns:a="http://schemas.openxmlformats.org/drawingml/2006/main" noGrp="1"/>
          </p:cNvSpPr>
          <p:nvPr/>
        </p:nvSpPr>
        <p:spPr>
          <a:xfrm xmlns:a="http://schemas.openxmlformats.org/drawingml/2006/main">
            <a:off x="5143500" y="1543050"/>
            <a:ext cx="643890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ba0890759e34838"/>
          <a:srcRect xmlns:a="http://schemas.openxmlformats.org/drawingml/2006/main" l="0" t="10254" r="0" b="10254"/>
          <a:stretch xmlns:a="http://schemas.openxmlformats.org/drawingml/2006/main">
            <a:fillRect l="0" t="0" r="0" b="0"/>
          </a:stretch>
        </p:blipFill>
        <p:spPr>
          <a:xfrm xmlns:a="http://schemas.openxmlformats.org/drawingml/2006/main">
            <a:off x="5219700" y="1619250"/>
            <a:ext cx="628650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262287096"/>
      </p:ext>
    </p:extLst>
  </p:cSld>
</p:sld>
</file>

<file path=ppt/slides/slide6.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b016ca1f3404f9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3FAD8D-9DA6-458C-99A7-4036FC4F6FB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47BFE6D-4EB2-4D98-A304-09A77E7BFEBF}"/>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CREATOR WORKFLOW</a:t>
            </a:r>
          </a:p>
        </p:txBody>
      </p:sp>
      <p:sp>
        <p:nvSpPr>
          <p:cNvPr id="4" name="">
            <a:extLst xmlns:a="http://schemas.openxmlformats.org/drawingml/2006/main">
              <a:ext uri="{FF2B5EF4-FFF2-40B4-BE49-F238E27FC236}">
                <a16:creationId xmlns:a16="http://schemas.microsoft.com/office/drawing/2014/main" id="{5BB3BB63-4CF6-4B67-84E0-B1337397D80E}"/>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Creators know what needs attention</a:t>
            </a:r>
          </a:p>
        </p:txBody>
      </p:sp>
      <p:sp>
        <p:nvSpPr>
          <p:cNvPr id="5" name="">
            <a:extLst xmlns:a="http://schemas.openxmlformats.org/drawingml/2006/main">
              <a:ext uri="{FF2B5EF4-FFF2-40B4-BE49-F238E27FC236}">
                <a16:creationId xmlns:a16="http://schemas.microsoft.com/office/drawing/2014/main" id="{A522908F-96E6-461D-BA24-3C171D88D5C6}"/>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creator sees the fee, deliverable deadline, campaign conversation and upcoming payment in one view.</a:t>
            </a:r>
          </a:p>
        </p:txBody>
      </p:sp>
      <p:sp>
        <p:nvSpPr>
          <p:cNvPr id="6" name="">
            <a:extLst xmlns:a="http://schemas.openxmlformats.org/drawingml/2006/main">
              <a:ext uri="{FF2B5EF4-FFF2-40B4-BE49-F238E27FC236}">
                <a16:creationId xmlns:a16="http://schemas.microsoft.com/office/drawing/2014/main" id="{7BBE6C2F-FB9B-49D1-8299-1C301AC80492}"/>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DF35474-A4ED-454E-B082-3A5AE76E9943}"/>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7"/>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Accept the scope with the fee visible</a:t>
            </a:r>
          </a:p>
        </p:txBody>
      </p:sp>
      <p:sp>
        <p:nvSpPr>
          <p:cNvPr id="8" name="">
            <a:extLst xmlns:a="http://schemas.openxmlformats.org/drawingml/2006/main">
              <a:ext uri="{FF2B5EF4-FFF2-40B4-BE49-F238E27FC236}">
                <a16:creationId xmlns:a16="http://schemas.microsoft.com/office/drawing/2014/main" id="{5D3FC3AE-D51E-4761-B993-6EAF459D85E5}"/>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A47EF59-5F98-4CD1-A0C0-198061B33747}"/>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Submit work inside the campaign</a:t>
            </a:r>
          </a:p>
        </p:txBody>
      </p:sp>
      <p:sp>
        <p:nvSpPr>
          <p:cNvPr id="10" name="">
            <a:extLst xmlns:a="http://schemas.openxmlformats.org/drawingml/2006/main">
              <a:ext uri="{FF2B5EF4-FFF2-40B4-BE49-F238E27FC236}">
                <a16:creationId xmlns:a16="http://schemas.microsoft.com/office/drawing/2014/main" id="{D933031B-0D7F-4FF8-8AD2-57290433C1A8}"/>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0B21E39-1943-4C3F-8F59-349C2F5AFB79}"/>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Track approval and invoice status</a:t>
            </a:r>
          </a:p>
        </p:txBody>
      </p:sp>
      <p:sp>
        <p:nvSpPr>
          <p:cNvPr id="12" name="">
            <a:extLst xmlns:a="http://schemas.openxmlformats.org/drawingml/2006/main">
              <a:ext uri="{FF2B5EF4-FFF2-40B4-BE49-F238E27FC236}">
                <a16:creationId xmlns:a16="http://schemas.microsoft.com/office/drawing/2014/main" id="{0C2495C1-AA27-4D76-8298-E83C1F221CC9}"/>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86019d126d04f41"/>
          <a:srcRect xmlns:a="http://schemas.openxmlformats.org/drawingml/2006/main" l="0" t="12748" r="0" b="12748"/>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804404629"/>
      </p:ext>
    </p:extLst>
  </p:cSld>
</p:sld>
</file>

<file path=ppt/slides/slide7.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7363439e2a044c1"/>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CB4399-5D0A-4FA9-B854-F5153D15CE05}"/>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870B2FB1-0A48-44EF-B077-2383041B2AEE}"/>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FE3CF"/>
                </a:solidFill>
                <a:latin typeface="Arial"/>
                <a:ea typeface="Arial"/>
                <a:cs typeface="Arial"/>
              </a:defRPr>
            </a:pPr>
            <a:r>
              <a:rPr sz="975" b="1">
                <a:solidFill>
                  <a:srgbClr val="8FE3CF"/>
                </a:solidFill>
                <a:latin typeface="Arial"/>
                <a:ea typeface="Arial"/>
                <a:cs typeface="Arial"/>
              </a:rPr>
              <a:t>AGENCY WORKFLOW</a:t>
            </a:r>
          </a:p>
        </p:txBody>
      </p:sp>
      <p:sp>
        <p:nvSpPr>
          <p:cNvPr id="4" name="">
            <a:extLst xmlns:a="http://schemas.openxmlformats.org/drawingml/2006/main">
              <a:ext uri="{FF2B5EF4-FFF2-40B4-BE49-F238E27FC236}">
                <a16:creationId xmlns:a16="http://schemas.microsoft.com/office/drawing/2014/main" id="{282ACC74-7704-4181-B53B-75B9A021D755}"/>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8"/>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Agencies run the handoffs</a:t>
            </a:r>
          </a:p>
        </p:txBody>
      </p:sp>
      <p:sp>
        <p:nvSpPr>
          <p:cNvPr id="5" name="">
            <a:extLst xmlns:a="http://schemas.openxmlformats.org/drawingml/2006/main">
              <a:ext uri="{FF2B5EF4-FFF2-40B4-BE49-F238E27FC236}">
                <a16:creationId xmlns:a16="http://schemas.microsoft.com/office/drawing/2014/main" id="{138F8872-C99F-46B0-87F8-CCBE000ED936}"/>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manager sees the active portfolio, roster status and review queue before work reaches the brand.</a:t>
            </a:r>
          </a:p>
        </p:txBody>
      </p:sp>
      <p:sp>
        <p:nvSpPr>
          <p:cNvPr id="6" name="">
            <a:extLst xmlns:a="http://schemas.openxmlformats.org/drawingml/2006/main">
              <a:ext uri="{FF2B5EF4-FFF2-40B4-BE49-F238E27FC236}">
                <a16:creationId xmlns:a16="http://schemas.microsoft.com/office/drawing/2014/main" id="{ED435D71-5FD1-416A-B7C1-AC67EF3BAEB6}"/>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E5068C8C-29DB-4BFA-AE71-AB24FE417FB4}"/>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Match creators to the agreed brief</a:t>
            </a:r>
          </a:p>
        </p:txBody>
      </p:sp>
      <p:sp>
        <p:nvSpPr>
          <p:cNvPr id="8" name="">
            <a:extLst xmlns:a="http://schemas.openxmlformats.org/drawingml/2006/main">
              <a:ext uri="{FF2B5EF4-FFF2-40B4-BE49-F238E27FC236}">
                <a16:creationId xmlns:a16="http://schemas.microsoft.com/office/drawing/2014/main" id="{3CDCA599-9D6E-43D4-B67F-0A38E83501FA}"/>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3D1ACCD-2799-47DA-8634-B7593D1DA040}"/>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Consolidate feedback before brand review</a:t>
            </a:r>
          </a:p>
        </p:txBody>
      </p:sp>
      <p:sp>
        <p:nvSpPr>
          <p:cNvPr id="10" name="">
            <a:extLst xmlns:a="http://schemas.openxmlformats.org/drawingml/2006/main">
              <a:ext uri="{FF2B5EF4-FFF2-40B4-BE49-F238E27FC236}">
                <a16:creationId xmlns:a16="http://schemas.microsoft.com/office/drawing/2014/main" id="{F8526AA0-370E-4848-8FD8-E64090664844}"/>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D212D23-72E8-475F-A25B-C97E67E0BF98}"/>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Monitor every campaign decision</a:t>
            </a:r>
          </a:p>
        </p:txBody>
      </p:sp>
      <p:sp>
        <p:nvSpPr>
          <p:cNvPr id="12" name="">
            <a:extLst xmlns:a="http://schemas.openxmlformats.org/drawingml/2006/main">
              <a:ext uri="{FF2B5EF4-FFF2-40B4-BE49-F238E27FC236}">
                <a16:creationId xmlns:a16="http://schemas.microsoft.com/office/drawing/2014/main" id="{C013C856-D47F-414D-A282-9ECDB6428838}"/>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5054d90d7124a43"/>
          <a:srcRect xmlns:a="http://schemas.openxmlformats.org/drawingml/2006/main" l="0" t="14524" r="0" b="14524"/>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294735458"/>
      </p:ext>
    </p:extLst>
  </p:cSld>
</p:sld>
</file>

<file path=ppt/slides/slide8.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f36744bc90d4da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7D8228-EA55-4BF5-B03D-F8AD216E11B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194B79A-AF78-4931-B7F9-A8582FA04161}"/>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FFD09A"/>
                </a:solidFill>
                <a:latin typeface="Arial"/>
                <a:ea typeface="Arial"/>
                <a:cs typeface="Arial"/>
              </a:defRPr>
            </a:pPr>
            <a:r>
              <a:rPr sz="975" b="1">
                <a:solidFill>
                  <a:srgbClr val="FFD09A"/>
                </a:solidFill>
                <a:latin typeface="Arial"/>
                <a:ea typeface="Arial"/>
                <a:cs typeface="Arial"/>
              </a:rPr>
              <a:t>BRAND WORKFLOW</a:t>
            </a:r>
          </a:p>
        </p:txBody>
      </p:sp>
      <p:sp>
        <p:nvSpPr>
          <p:cNvPr id="4" name="">
            <a:extLst xmlns:a="http://schemas.openxmlformats.org/drawingml/2006/main">
              <a:ext uri="{FF2B5EF4-FFF2-40B4-BE49-F238E27FC236}">
                <a16:creationId xmlns:a16="http://schemas.microsoft.com/office/drawing/2014/main" id="{A0CB9F87-F3C1-4EFE-BC27-4F20EEAAD9E4}"/>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Brands see progress without chasing updates</a:t>
            </a:r>
          </a:p>
        </p:txBody>
      </p:sp>
      <p:sp>
        <p:nvSpPr>
          <p:cNvPr id="5" name="">
            <a:extLst xmlns:a="http://schemas.openxmlformats.org/drawingml/2006/main">
              <a:ext uri="{FF2B5EF4-FFF2-40B4-BE49-F238E27FC236}">
                <a16:creationId xmlns:a16="http://schemas.microsoft.com/office/drawing/2014/main" id="{9A205E52-7C5E-4AA6-B7E5-9B3EC01537A6}"/>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7"/>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brand sees committed spend, final approvals and campaign performance inside the same record used by the agency.</a:t>
            </a:r>
          </a:p>
        </p:txBody>
      </p:sp>
      <p:sp>
        <p:nvSpPr>
          <p:cNvPr id="6" name="">
            <a:extLst xmlns:a="http://schemas.openxmlformats.org/drawingml/2006/main">
              <a:ext uri="{FF2B5EF4-FFF2-40B4-BE49-F238E27FC236}">
                <a16:creationId xmlns:a16="http://schemas.microsoft.com/office/drawing/2014/main" id="{21DFDBC9-2861-4A61-8212-E411C41F6BB8}"/>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D114864-D19F-4A71-AE18-436D4D3379A4}"/>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Approve deliverables against the brief</a:t>
            </a:r>
          </a:p>
        </p:txBody>
      </p:sp>
      <p:sp>
        <p:nvSpPr>
          <p:cNvPr id="8" name="">
            <a:extLst xmlns:a="http://schemas.openxmlformats.org/drawingml/2006/main">
              <a:ext uri="{FF2B5EF4-FFF2-40B4-BE49-F238E27FC236}">
                <a16:creationId xmlns:a16="http://schemas.microsoft.com/office/drawing/2014/main" id="{62D44138-497A-44C5-8136-18294A6DA37D}"/>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DE2D0F3-FC3B-4400-A225-60251517389A}"/>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32"/>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See campaign-scoped performance</a:t>
            </a:r>
          </a:p>
        </p:txBody>
      </p:sp>
      <p:sp>
        <p:nvSpPr>
          <p:cNvPr id="10" name="">
            <a:extLst xmlns:a="http://schemas.openxmlformats.org/drawingml/2006/main">
              <a:ext uri="{FF2B5EF4-FFF2-40B4-BE49-F238E27FC236}">
                <a16:creationId xmlns:a16="http://schemas.microsoft.com/office/drawing/2014/main" id="{ED1511A6-BB7B-456A-8253-90E121CA33C1}"/>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71CC1B6-E377-4D1C-BBB2-BBA4DB14615B}"/>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Confirm milestone and payment decisions</a:t>
            </a:r>
          </a:p>
        </p:txBody>
      </p:sp>
      <p:sp>
        <p:nvSpPr>
          <p:cNvPr id="12" name="">
            <a:extLst xmlns:a="http://schemas.openxmlformats.org/drawingml/2006/main">
              <a:ext uri="{FF2B5EF4-FFF2-40B4-BE49-F238E27FC236}">
                <a16:creationId xmlns:a16="http://schemas.microsoft.com/office/drawing/2014/main" id="{443D8543-2615-4E22-B9F7-4418B8993734}"/>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2b75cc7654649bd"/>
          <a:srcRect xmlns:a="http://schemas.openxmlformats.org/drawingml/2006/main" l="0" t="14524" r="0" b="14524"/>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297107415"/>
      </p:ext>
    </p:extLst>
  </p:cSld>
</p:sld>
</file>

<file path=ppt/slides/slide9.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5f6616acf3e42ba"/>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114190-35FF-4166-A611-2790BF939317}"/>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C1ECD7B-DF65-4204-9A30-239BC7A95AC7}"/>
              </a:ext>
            </a:extLst>
          </p:cNvPr>
          <p:cNvSpPr>
            <a:spLocks xmlns:a="http://schemas.openxmlformats.org/drawingml/2006/main" noGrp="1"/>
          </p:cNvSpPr>
          <p:nvPr/>
        </p:nvSpPr>
        <p:spPr>
          <a:xfrm xmlns:a="http://schemas.openxmlformats.org/drawingml/2006/main">
            <a:off x="609600" y="9906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SHARED WORKFLOW</a:t>
            </a:r>
          </a:p>
        </p:txBody>
      </p:sp>
      <p:sp>
        <p:nvSpPr>
          <p:cNvPr id="4" name="">
            <a:extLst xmlns:a="http://schemas.openxmlformats.org/drawingml/2006/main">
              <a:ext uri="{FF2B5EF4-FFF2-40B4-BE49-F238E27FC236}">
                <a16:creationId xmlns:a16="http://schemas.microsoft.com/office/drawing/2014/main" id="{208A6D41-EE62-43F7-B06B-4B9097FC7C1D}"/>
              </a:ext>
            </a:extLst>
          </p:cNvPr>
          <p:cNvSpPr>
            <a:spLocks xmlns:a="http://schemas.openxmlformats.org/drawingml/2006/main" noGrp="1"/>
          </p:cNvSpPr>
          <p:nvPr/>
        </p:nvSpPr>
        <p:spPr>
          <a:xfrm xmlns:a="http://schemas.openxmlformats.org/drawingml/2006/main">
            <a:off x="609600" y="129540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Every decision stays with the campaign</a:t>
            </a:r>
          </a:p>
        </p:txBody>
      </p:sp>
      <p:sp>
        <p:nvSpPr>
          <p:cNvPr id="5" name="">
            <a:extLst xmlns:a="http://schemas.openxmlformats.org/drawingml/2006/main">
              <a:ext uri="{FF2B5EF4-FFF2-40B4-BE49-F238E27FC236}">
                <a16:creationId xmlns:a16="http://schemas.microsoft.com/office/drawing/2014/main" id="{B47E8CD9-73CF-41C1-93E4-743E0C470A23}"/>
              </a:ext>
            </a:extLst>
          </p:cNvPr>
          <p:cNvSpPr>
            <a:spLocks xmlns:a="http://schemas.openxmlformats.org/drawingml/2006/main" noGrp="1"/>
          </p:cNvSpPr>
          <p:nvPr/>
        </p:nvSpPr>
        <p:spPr>
          <a:xfrm xmlns:a="http://schemas.openxmlformats.org/drawingml/2006/main">
            <a:off x="628650" y="20383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3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Six handoffs connect the brief to payment status. Each role sees the same stage and owns a clear next action.</a:t>
            </a:r>
          </a:p>
        </p:txBody>
      </p:sp>
      <p:sp>
        <p:nvSpPr>
          <p:cNvPr id="6" name="">
            <a:extLst xmlns:a="http://schemas.openxmlformats.org/drawingml/2006/main">
              <a:ext uri="{FF2B5EF4-FFF2-40B4-BE49-F238E27FC236}">
                <a16:creationId xmlns:a16="http://schemas.microsoft.com/office/drawing/2014/main" id="{3C97775D-5863-4073-9D54-431D2003BC99}"/>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7" name="">
            <a:extLst xmlns:a="http://schemas.openxmlformats.org/drawingml/2006/main">
              <a:ext uri="{FF2B5EF4-FFF2-40B4-BE49-F238E27FC236}">
                <a16:creationId xmlns:a16="http://schemas.microsoft.com/office/drawing/2014/main" id="{6C5A5310-0D41-4F1E-B0B3-FE43A58B9A30}"/>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82603B1A-24AC-4E73-91B2-B0AEEAF73B60}"/>
              </a:ext>
            </a:extLst>
          </p:cNvPr>
          <p:cNvSpPr>
            <a:spLocks xmlns:a="http://schemas.openxmlformats.org/drawingml/2006/main" noGrp="1"/>
          </p:cNvSpPr>
          <p:nvPr/>
        </p:nvSpPr>
        <p:spPr>
          <a:xfrm xmlns:a="http://schemas.openxmlformats.org/drawingml/2006/main">
            <a:off x="9525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F428C9D2-7A27-4D0D-8FC6-028CC2702864}"/>
              </a:ext>
            </a:extLst>
          </p:cNvPr>
          <p:cNvSpPr>
            <a:spLocks xmlns:a="http://schemas.openxmlformats.org/drawingml/2006/main" noGrp="1"/>
          </p:cNvSpPr>
          <p:nvPr/>
        </p:nvSpPr>
        <p:spPr>
          <a:xfrm xmlns:a="http://schemas.openxmlformats.org/drawingml/2006/main">
            <a:off x="5143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Brief</a:t>
            </a:r>
          </a:p>
        </p:txBody>
      </p:sp>
      <p:sp>
        <p:nvSpPr>
          <p:cNvPr id="10" name="">
            <a:extLst xmlns:a="http://schemas.openxmlformats.org/drawingml/2006/main">
              <a:ext uri="{FF2B5EF4-FFF2-40B4-BE49-F238E27FC236}">
                <a16:creationId xmlns:a16="http://schemas.microsoft.com/office/drawing/2014/main" id="{9FCBB4ED-5F6D-40DD-9425-4BAE50FEC0CB}"/>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1" name="">
            <a:extLst xmlns:a="http://schemas.openxmlformats.org/drawingml/2006/main">
              <a:ext uri="{FF2B5EF4-FFF2-40B4-BE49-F238E27FC236}">
                <a16:creationId xmlns:a16="http://schemas.microsoft.com/office/drawing/2014/main" id="{B6DF1C26-F086-4D48-84E0-C7772A454F85}"/>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EBD411F0-4419-4A5E-809E-68320B58C341}"/>
              </a:ext>
            </a:extLst>
          </p:cNvPr>
          <p:cNvSpPr>
            <a:spLocks xmlns:a="http://schemas.openxmlformats.org/drawingml/2006/main" noGrp="1"/>
          </p:cNvSpPr>
          <p:nvPr/>
        </p:nvSpPr>
        <p:spPr>
          <a:xfrm xmlns:a="http://schemas.openxmlformats.org/drawingml/2006/main">
            <a:off x="17335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B802115E-B5AE-419A-BC2A-07712AAFD562}"/>
              </a:ext>
            </a:extLst>
          </p:cNvPr>
          <p:cNvSpPr>
            <a:spLocks xmlns:a="http://schemas.openxmlformats.org/drawingml/2006/main" noGrp="1"/>
          </p:cNvSpPr>
          <p:nvPr/>
        </p:nvSpPr>
        <p:spPr>
          <a:xfrm xmlns:a="http://schemas.openxmlformats.org/drawingml/2006/main">
            <a:off x="12954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Team</a:t>
            </a:r>
          </a:p>
        </p:txBody>
      </p:sp>
      <p:sp>
        <p:nvSpPr>
          <p:cNvPr id="14" name="">
            <a:extLst xmlns:a="http://schemas.openxmlformats.org/drawingml/2006/main">
              <a:ext uri="{FF2B5EF4-FFF2-40B4-BE49-F238E27FC236}">
                <a16:creationId xmlns:a16="http://schemas.microsoft.com/office/drawing/2014/main" id="{A55FF7AC-5EBD-4862-999E-ECDBEBAC0406}"/>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5" name="">
            <a:extLst xmlns:a="http://schemas.openxmlformats.org/drawingml/2006/main">
              <a:ext uri="{FF2B5EF4-FFF2-40B4-BE49-F238E27FC236}">
                <a16:creationId xmlns:a16="http://schemas.microsoft.com/office/drawing/2014/main" id="{398082EC-3168-40A5-93D1-673A340378B6}"/>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42116DC3-A3BF-4A27-AAE2-2062E4AB0632}"/>
              </a:ext>
            </a:extLst>
          </p:cNvPr>
          <p:cNvSpPr>
            <a:spLocks xmlns:a="http://schemas.openxmlformats.org/drawingml/2006/main" noGrp="1"/>
          </p:cNvSpPr>
          <p:nvPr/>
        </p:nvSpPr>
        <p:spPr>
          <a:xfrm xmlns:a="http://schemas.openxmlformats.org/drawingml/2006/main">
            <a:off x="25146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7" name="">
            <a:extLst xmlns:a="http://schemas.openxmlformats.org/drawingml/2006/main">
              <a:ext uri="{FF2B5EF4-FFF2-40B4-BE49-F238E27FC236}">
                <a16:creationId xmlns:a16="http://schemas.microsoft.com/office/drawing/2014/main" id="{944535AD-C13F-41A7-A52A-1A6911A2E7D0}"/>
              </a:ext>
            </a:extLst>
          </p:cNvPr>
          <p:cNvSpPr>
            <a:spLocks xmlns:a="http://schemas.openxmlformats.org/drawingml/2006/main" noGrp="1"/>
          </p:cNvSpPr>
          <p:nvPr/>
        </p:nvSpPr>
        <p:spPr>
          <a:xfrm xmlns:a="http://schemas.openxmlformats.org/drawingml/2006/main">
            <a:off x="20764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Create</a:t>
            </a:r>
          </a:p>
        </p:txBody>
      </p:sp>
      <p:sp>
        <p:nvSpPr>
          <p:cNvPr id="18" name="">
            <a:extLst xmlns:a="http://schemas.openxmlformats.org/drawingml/2006/main">
              <a:ext uri="{FF2B5EF4-FFF2-40B4-BE49-F238E27FC236}">
                <a16:creationId xmlns:a16="http://schemas.microsoft.com/office/drawing/2014/main" id="{515F5392-9582-46EA-9AE9-267CE618E6E7}"/>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9" name="">
            <a:extLst xmlns:a="http://schemas.openxmlformats.org/drawingml/2006/main">
              <a:ext uri="{FF2B5EF4-FFF2-40B4-BE49-F238E27FC236}">
                <a16:creationId xmlns:a16="http://schemas.microsoft.com/office/drawing/2014/main" id="{87342962-F716-4498-AECF-C24AE093903C}"/>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80D360D8-6E3A-408E-A9B2-804BAFB15476}"/>
              </a:ext>
            </a:extLst>
          </p:cNvPr>
          <p:cNvSpPr>
            <a:spLocks xmlns:a="http://schemas.openxmlformats.org/drawingml/2006/main" noGrp="1"/>
          </p:cNvSpPr>
          <p:nvPr/>
        </p:nvSpPr>
        <p:spPr>
          <a:xfrm xmlns:a="http://schemas.openxmlformats.org/drawingml/2006/main">
            <a:off x="32956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1" name="">
            <a:extLst xmlns:a="http://schemas.openxmlformats.org/drawingml/2006/main">
              <a:ext uri="{FF2B5EF4-FFF2-40B4-BE49-F238E27FC236}">
                <a16:creationId xmlns:a16="http://schemas.microsoft.com/office/drawing/2014/main" id="{5BA2A69D-12E0-409E-97C7-6E9DA148833A}"/>
              </a:ext>
            </a:extLst>
          </p:cNvPr>
          <p:cNvSpPr>
            <a:spLocks xmlns:a="http://schemas.openxmlformats.org/drawingml/2006/main" noGrp="1"/>
          </p:cNvSpPr>
          <p:nvPr/>
        </p:nvSpPr>
        <p:spPr>
          <a:xfrm xmlns:a="http://schemas.openxmlformats.org/drawingml/2006/main">
            <a:off x="28575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Agency review</a:t>
            </a:r>
          </a:p>
        </p:txBody>
      </p:sp>
      <p:sp>
        <p:nvSpPr>
          <p:cNvPr id="22" name="">
            <a:extLst xmlns:a="http://schemas.openxmlformats.org/drawingml/2006/main">
              <a:ext uri="{FF2B5EF4-FFF2-40B4-BE49-F238E27FC236}">
                <a16:creationId xmlns:a16="http://schemas.microsoft.com/office/drawing/2014/main" id="{16531893-037E-4C20-9B2F-37093740D628}"/>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23" name="">
            <a:extLst xmlns:a="http://schemas.openxmlformats.org/drawingml/2006/main">
              <a:ext uri="{FF2B5EF4-FFF2-40B4-BE49-F238E27FC236}">
                <a16:creationId xmlns:a16="http://schemas.microsoft.com/office/drawing/2014/main" id="{5CC038CD-507D-4AF4-B935-343C286A3AB4}"/>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1C0ACB23-AFC5-47E0-823C-20EDF696936F}"/>
              </a:ext>
            </a:extLst>
          </p:cNvPr>
          <p:cNvSpPr>
            <a:spLocks xmlns:a="http://schemas.openxmlformats.org/drawingml/2006/main" noGrp="1"/>
          </p:cNvSpPr>
          <p:nvPr/>
        </p:nvSpPr>
        <p:spPr>
          <a:xfrm xmlns:a="http://schemas.openxmlformats.org/drawingml/2006/main">
            <a:off x="40767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5" name="">
            <a:extLst xmlns:a="http://schemas.openxmlformats.org/drawingml/2006/main">
              <a:ext uri="{FF2B5EF4-FFF2-40B4-BE49-F238E27FC236}">
                <a16:creationId xmlns:a16="http://schemas.microsoft.com/office/drawing/2014/main" id="{CFA335AC-6C1E-4383-8608-7DC29DA4C9AA}"/>
              </a:ext>
            </a:extLst>
          </p:cNvPr>
          <p:cNvSpPr>
            <a:spLocks xmlns:a="http://schemas.openxmlformats.org/drawingml/2006/main" noGrp="1"/>
          </p:cNvSpPr>
          <p:nvPr/>
        </p:nvSpPr>
        <p:spPr>
          <a:xfrm xmlns:a="http://schemas.openxmlformats.org/drawingml/2006/main">
            <a:off x="36385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Brand approval</a:t>
            </a:r>
          </a:p>
        </p:txBody>
      </p:sp>
      <p:sp>
        <p:nvSpPr>
          <p:cNvPr id="26" name="">
            <a:extLst xmlns:a="http://schemas.openxmlformats.org/drawingml/2006/main">
              <a:ext uri="{FF2B5EF4-FFF2-40B4-BE49-F238E27FC236}">
                <a16:creationId xmlns:a16="http://schemas.microsoft.com/office/drawing/2014/main" id="{E6CB4681-71C0-4959-9EC7-1096BC17E747}"/>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oundRect">
            <a:avLst>
              <a:gd name="adj" fmla="val 50000"/>
            </a:avLst>
          </a:prstGeom>
          <a:solidFill xmlns:a="http://schemas.openxmlformats.org/drawingml/2006/main">
            <a:srgbClr val="D4F973"/>
          </a:solidFill>
          <a:ln xmlns:a="http://schemas.openxmlformats.org/drawingml/2006/main" w="9525">
            <a:solidFill>
              <a:srgbClr val="D4F973"/>
            </a:solidFill>
          </a:ln>
        </p:spPr>
      </p:sp>
      <p:sp>
        <p:nvSpPr>
          <p:cNvPr id="27" name="">
            <a:extLst xmlns:a="http://schemas.openxmlformats.org/drawingml/2006/main">
              <a:ext uri="{FF2B5EF4-FFF2-40B4-BE49-F238E27FC236}">
                <a16:creationId xmlns:a16="http://schemas.microsoft.com/office/drawing/2014/main" id="{0CE24AB9-EE0B-450D-8676-9D63FF098B03}"/>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2016"/>
                </a:solidFill>
                <a:latin typeface="Arial"/>
                <a:ea typeface="Arial"/>
                <a:cs typeface="Arial"/>
              </a:defRPr>
            </a:pPr>
            <a:r>
              <a:rPr sz="1050" b="1">
                <a:solidFill>
                  <a:srgbClr val="172016"/>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245AC45C-7E76-40EE-B0FE-CA4BF1351D65}"/>
              </a:ext>
            </a:extLst>
          </p:cNvPr>
          <p:cNvSpPr>
            <a:spLocks xmlns:a="http://schemas.openxmlformats.org/drawingml/2006/main" noGrp="1"/>
          </p:cNvSpPr>
          <p:nvPr/>
        </p:nvSpPr>
        <p:spPr>
          <a:xfrm xmlns:a="http://schemas.openxmlformats.org/drawingml/2006/main">
            <a:off x="44196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Payment status</a:t>
            </a:r>
          </a:p>
        </p:txBody>
      </p:sp>
      <p:sp>
        <p:nvSpPr>
          <p:cNvPr id="29" name="">
            <a:extLst xmlns:a="http://schemas.openxmlformats.org/drawingml/2006/main">
              <a:ext uri="{FF2B5EF4-FFF2-40B4-BE49-F238E27FC236}">
                <a16:creationId xmlns:a16="http://schemas.microsoft.com/office/drawing/2014/main" id="{A7A7AE5D-B0E3-41B6-AAF0-7DD0613C23E5}"/>
              </a:ext>
            </a:extLst>
          </p:cNvPr>
          <p:cNvSpPr>
            <a:spLocks xmlns:a="http://schemas.openxmlformats.org/drawingml/2006/main" noGrp="1"/>
          </p:cNvSpPr>
          <p:nvPr/>
        </p:nvSpPr>
        <p:spPr>
          <a:xfrm xmlns:a="http://schemas.openxmlformats.org/drawingml/2006/main">
            <a:off x="628650" y="43624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workflow keeps content approval separate from invoice payment.</a:t>
            </a:r>
          </a:p>
        </p:txBody>
      </p:sp>
      <p:sp>
        <p:nvSpPr>
          <p:cNvPr id="30" name="">
            <a:extLst xmlns:a="http://schemas.openxmlformats.org/drawingml/2006/main">
              <a:ext uri="{FF2B5EF4-FFF2-40B4-BE49-F238E27FC236}">
                <a16:creationId xmlns:a16="http://schemas.microsoft.com/office/drawing/2014/main" id="{9010BAD6-4445-4BDD-8D41-28499E1D8280}"/>
              </a:ext>
            </a:extLst>
          </p:cNvPr>
          <p:cNvSpPr>
            <a:spLocks xmlns:a="http://schemas.openxmlformats.org/drawingml/2006/main" noGrp="1"/>
          </p:cNvSpPr>
          <p:nvPr/>
        </p:nvSpPr>
        <p:spPr>
          <a:xfrm xmlns:a="http://schemas.openxmlformats.org/drawingml/2006/main">
            <a:off x="628650" y="5105400"/>
            <a:ext cx="4333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That distinction gives agencies and brands a reliable decision trail without making financial claims the platform cannot verify.</a:t>
            </a:r>
          </a:p>
        </p:txBody>
      </p:sp>
      <p:sp>
        <p:nvSpPr>
          <p:cNvPr id="31" name="">
            <a:extLst xmlns:a="http://schemas.openxmlformats.org/drawingml/2006/main">
              <a:ext uri="{FF2B5EF4-FFF2-40B4-BE49-F238E27FC236}">
                <a16:creationId xmlns:a16="http://schemas.microsoft.com/office/drawing/2014/main" id="{BF2194BF-9798-4F23-80C4-0FA85E96ADDE}"/>
              </a:ext>
            </a:extLst>
          </p:cNvPr>
          <p:cNvSpPr>
            <a:spLocks xmlns:a="http://schemas.openxmlformats.org/drawingml/2006/main" noGrp="1"/>
          </p:cNvSpPr>
          <p:nvPr/>
        </p:nvSpPr>
        <p:spPr>
          <a:xfrm xmlns:a="http://schemas.openxmlformats.org/drawingml/2006/main">
            <a:off x="5276850" y="1600200"/>
            <a:ext cx="630555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0b32103b30ee4283"/>
          <a:srcRect xmlns:a="http://schemas.openxmlformats.org/drawingml/2006/main" l="0" t="17178" r="0" b="17178"/>
          <a:stretch xmlns:a="http://schemas.openxmlformats.org/drawingml/2006/main">
            <a:fillRect l="0" t="0" r="0" b="0"/>
          </a:stretch>
        </p:blipFill>
        <p:spPr>
          <a:xfrm xmlns:a="http://schemas.openxmlformats.org/drawingml/2006/main">
            <a:off x="5353050" y="1676400"/>
            <a:ext cx="61531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929862373"/>
      </p:ext>
    </p:extLst>
  </p:cSld>
</p:sld>
</file>

<file path=ppt/slides/slide10.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278b1125e6c4b95"/>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70B575-CE49-427F-9BE9-86B568620F4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58FBE68-BFD6-4CCD-A964-D1C802A08EE4}"/>
              </a:ext>
            </a:extLst>
          </p:cNvPr>
          <p:cNvSpPr>
            <a:spLocks xmlns:a="http://schemas.openxmlformats.org/drawingml/2006/main" noGrp="1"/>
          </p:cNvSpPr>
          <p:nvPr/>
        </p:nvSpPr>
        <p:spPr>
          <a:xfrm xmlns:a="http://schemas.openxmlformats.org/drawingml/2006/main">
            <a:off x="609600" y="99060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PLANNED CAPABILITY</a:t>
            </a:r>
          </a:p>
        </p:txBody>
      </p:sp>
      <p:sp>
        <p:nvSpPr>
          <p:cNvPr id="4" name="">
            <a:extLst xmlns:a="http://schemas.openxmlformats.org/drawingml/2006/main">
              <a:ext uri="{FF2B5EF4-FFF2-40B4-BE49-F238E27FC236}">
                <a16:creationId xmlns:a16="http://schemas.microsoft.com/office/drawing/2014/main" id="{1116ABCC-8909-4917-BD92-94A4857B17EE}"/>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053"/>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Campaign reports generated from the shared record</a:t>
            </a:r>
          </a:p>
        </p:txBody>
      </p:sp>
      <p:sp>
        <p:nvSpPr>
          <p:cNvPr id="5" name="">
            <a:extLst xmlns:a="http://schemas.openxmlformats.org/drawingml/2006/main">
              <a:ext uri="{FF2B5EF4-FFF2-40B4-BE49-F238E27FC236}">
                <a16:creationId xmlns:a16="http://schemas.microsoft.com/office/drawing/2014/main" id="{3FF65909-1A5C-4145-BB21-89FFBA73652A}"/>
              </a:ext>
            </a:extLst>
          </p:cNvPr>
          <p:cNvSpPr>
            <a:spLocks xmlns:a="http://schemas.openxmlformats.org/drawingml/2006/main" noGrp="1"/>
          </p:cNvSpPr>
          <p:nvPr/>
        </p:nvSpPr>
        <p:spPr>
          <a:xfrm xmlns:a="http://schemas.openxmlformats.org/drawingml/2006/main">
            <a:off x="628650" y="19812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B7667"/>
                </a:solidFill>
                <a:latin typeface="Arial"/>
                <a:ea typeface="Arial"/>
                <a:cs typeface="Arial"/>
              </a:defRPr>
            </a:pPr>
            <a:r>
              <a:rPr sz="1350" b="0">
                <a:solidFill>
                  <a:srgbClr val="6B7667"/>
                </a:solidFill>
                <a:latin typeface="Arial"/>
                <a:ea typeface="Arial"/>
                <a:cs typeface="Arial"/>
              </a:rPr>
              <a:t>Illustrative concept for pilot validation</a:t>
            </a:r>
          </a:p>
        </p:txBody>
      </p:sp>
      <p:graphicFrame>
        <p:nvGraphicFramePr>
          <p:cNvPr id="24" name="Chart"/>
          <p:cNvGraphicFramePr/>
          <p:nvPr/>
        </p:nvGraphicFramePr>
        <p:xfrm>
          <a:off xmlns:a="http://schemas.openxmlformats.org/drawingml/2006/main" x="628650" y="2705100"/>
          <a:ext xmlns:a="http://schemas.openxmlformats.org/drawingml/2006/main" cx="6572250" cy="3067050"/>
        </p:xfrm>
        <a:graphic xmlns:a="http://schemas.openxmlformats.org/drawingml/2006/main">
          <a:graphicData uri="http://schemas.openxmlformats.org/drawingml/2006/chart">
            <c:chart xmlns:r="http://schemas.openxmlformats.org/officeDocument/2006/relationships" xmlns:c="http://schemas.openxmlformats.org/drawingml/2006/chart" r:id="R3858e20ab53b4760"/>
          </a:graphicData>
        </a:graphic>
      </p:graphicFrame>
      <p:sp>
        <p:nvSpPr>
          <p:cNvPr id="7" name="">
            <a:extLst xmlns:a="http://schemas.openxmlformats.org/drawingml/2006/main">
              <a:ext uri="{FF2B5EF4-FFF2-40B4-BE49-F238E27FC236}">
                <a16:creationId xmlns:a16="http://schemas.microsoft.com/office/drawing/2014/main" id="{49C95084-50D3-4E2C-807F-29F686F937AC}"/>
              </a:ext>
            </a:extLst>
          </p:cNvPr>
          <p:cNvSpPr>
            <a:spLocks xmlns:a="http://schemas.openxmlformats.org/drawingml/2006/main" noGrp="1"/>
          </p:cNvSpPr>
          <p:nvPr/>
        </p:nvSpPr>
        <p:spPr>
          <a:xfrm xmlns:a="http://schemas.openxmlformats.org/drawingml/2006/main">
            <a:off x="7943850" y="25908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172016"/>
                </a:solidFill>
                <a:latin typeface="Arial"/>
                <a:ea typeface="Arial"/>
                <a:cs typeface="Arial"/>
              </a:defRPr>
            </a:pPr>
            <a:r>
              <a:rPr sz="4050" b="1">
                <a:solidFill>
                  <a:srgbClr val="172016"/>
                </a:solidFill>
                <a:latin typeface="Arial"/>
                <a:ea typeface="Arial"/>
                <a:cs typeface="Arial"/>
              </a:rPr>
              <a:t>128.4K</a:t>
            </a:r>
          </a:p>
        </p:txBody>
      </p:sp>
      <p:sp>
        <p:nvSpPr>
          <p:cNvPr id="8" name="">
            <a:extLst xmlns:a="http://schemas.openxmlformats.org/drawingml/2006/main">
              <a:ext uri="{FF2B5EF4-FFF2-40B4-BE49-F238E27FC236}">
                <a16:creationId xmlns:a16="http://schemas.microsoft.com/office/drawing/2014/main" id="{37C9E962-94D6-476E-A2DE-4A4C206A6A5E}"/>
              </a:ext>
            </a:extLst>
          </p:cNvPr>
          <p:cNvSpPr>
            <a:spLocks xmlns:a="http://schemas.openxmlformats.org/drawingml/2006/main" noGrp="1"/>
          </p:cNvSpPr>
          <p:nvPr/>
        </p:nvSpPr>
        <p:spPr>
          <a:xfrm xmlns:a="http://schemas.openxmlformats.org/drawingml/2006/main">
            <a:off x="7981950" y="32194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A7565"/>
                </a:solidFill>
                <a:latin typeface="Arial"/>
                <a:ea typeface="Arial"/>
                <a:cs typeface="Arial"/>
              </a:defRPr>
            </a:pPr>
            <a:r>
              <a:rPr sz="1275" b="0">
                <a:solidFill>
                  <a:srgbClr val="6A7565"/>
                </a:solidFill>
                <a:latin typeface="Arial"/>
                <a:ea typeface="Arial"/>
                <a:cs typeface="Arial"/>
              </a:rPr>
              <a:t>illustrative verified views</a:t>
            </a:r>
          </a:p>
        </p:txBody>
      </p:sp>
      <p:sp>
        <p:nvSpPr>
          <p:cNvPr id="9" name="">
            <a:extLst xmlns:a="http://schemas.openxmlformats.org/drawingml/2006/main">
              <a:ext uri="{FF2B5EF4-FFF2-40B4-BE49-F238E27FC236}">
                <a16:creationId xmlns:a16="http://schemas.microsoft.com/office/drawing/2014/main" id="{A9D6A5EA-3453-4885-86C3-9C169695318E}"/>
              </a:ext>
            </a:extLst>
          </p:cNvPr>
          <p:cNvSpPr>
            <a:spLocks xmlns:a="http://schemas.openxmlformats.org/drawingml/2006/main" noGrp="1"/>
          </p:cNvSpPr>
          <p:nvPr/>
        </p:nvSpPr>
        <p:spPr>
          <a:xfrm xmlns:a="http://schemas.openxmlformats.org/drawingml/2006/main">
            <a:off x="7962900" y="3733800"/>
            <a:ext cx="3238500" cy="0"/>
          </a:xfrm>
          <a:prstGeom xmlns:a="http://schemas.openxmlformats.org/drawingml/2006/main" prst="line">
            <a:avLst/>
          </a:prstGeom>
          <a:noFill xmlns:a="http://schemas.openxmlformats.org/drawingml/2006/main"/>
          <a:ln xmlns:a="http://schemas.openxmlformats.org/drawingml/2006/main" w="9525">
            <a:solidFill>
              <a:srgbClr val="CCD3C6"/>
            </a:solidFill>
          </a:ln>
        </p:spPr>
      </p:sp>
      <p:sp>
        <p:nvSpPr>
          <p:cNvPr id="10" name="">
            <a:extLst xmlns:a="http://schemas.openxmlformats.org/drawingml/2006/main">
              <a:ext uri="{FF2B5EF4-FFF2-40B4-BE49-F238E27FC236}">
                <a16:creationId xmlns:a16="http://schemas.microsoft.com/office/drawing/2014/main" id="{AA6DDE37-6707-4F0F-873D-C93AD13BF606}"/>
              </a:ext>
            </a:extLst>
          </p:cNvPr>
          <p:cNvSpPr>
            <a:spLocks xmlns:a="http://schemas.openxmlformats.org/drawingml/2006/main" noGrp="1"/>
          </p:cNvSpPr>
          <p:nvPr/>
        </p:nvSpPr>
        <p:spPr>
          <a:xfrm xmlns:a="http://schemas.openxmlformats.org/drawingml/2006/main">
            <a:off x="7981950" y="39433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2EF2467-EA5D-4EE9-90E8-5190855BB864}"/>
              </a:ext>
            </a:extLst>
          </p:cNvPr>
          <p:cNvSpPr>
            <a:spLocks xmlns:a="http://schemas.openxmlformats.org/drawingml/2006/main" noGrp="1"/>
          </p:cNvSpPr>
          <p:nvPr/>
        </p:nvSpPr>
        <p:spPr>
          <a:xfrm xmlns:a="http://schemas.openxmlformats.org/drawingml/2006/main">
            <a:off x="8477250" y="38862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25"/>
          </a:bodyPr>
          <a:lstStyle xmlns:a="http://schemas.openxmlformats.org/drawingml/2006/main"/>
          <a:p xmlns:a="http://schemas.openxmlformats.org/drawingml/2006/main">
            <a:pPr algn="l">
              <a:defRPr sz="1350" b="1">
                <a:solidFill>
                  <a:srgbClr val="172016"/>
                </a:solidFill>
                <a:latin typeface="Arial"/>
                <a:ea typeface="Arial"/>
                <a:cs typeface="Arial"/>
              </a:defRPr>
            </a:pPr>
            <a:r>
              <a:rPr sz="1350" b="1">
                <a:solidFill>
                  <a:srgbClr val="172016"/>
                </a:solidFill>
                <a:latin typeface="Arial"/>
                <a:ea typeface="Arial"/>
                <a:cs typeface="Arial"/>
              </a:rPr>
              <a:t>Executive summary for the client</a:t>
            </a:r>
          </a:p>
        </p:txBody>
      </p:sp>
      <p:sp>
        <p:nvSpPr>
          <p:cNvPr id="12" name="">
            <a:extLst xmlns:a="http://schemas.openxmlformats.org/drawingml/2006/main">
              <a:ext uri="{FF2B5EF4-FFF2-40B4-BE49-F238E27FC236}">
                <a16:creationId xmlns:a16="http://schemas.microsoft.com/office/drawing/2014/main" id="{724973AC-DB8B-45F1-9B1E-58035601BCA0}"/>
              </a:ext>
            </a:extLst>
          </p:cNvPr>
          <p:cNvSpPr>
            <a:spLocks xmlns:a="http://schemas.openxmlformats.org/drawingml/2006/main" noGrp="1"/>
          </p:cNvSpPr>
          <p:nvPr/>
        </p:nvSpPr>
        <p:spPr>
          <a:xfrm xmlns:a="http://schemas.openxmlformats.org/drawingml/2006/main">
            <a:off x="7981950" y="44005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4AB1F23F-81AC-4EBE-A926-161D28740251}"/>
              </a:ext>
            </a:extLst>
          </p:cNvPr>
          <p:cNvSpPr>
            <a:spLocks xmlns:a="http://schemas.openxmlformats.org/drawingml/2006/main" noGrp="1"/>
          </p:cNvSpPr>
          <p:nvPr/>
        </p:nvSpPr>
        <p:spPr>
          <a:xfrm xmlns:a="http://schemas.openxmlformats.org/drawingml/2006/main">
            <a:off x="8477250" y="43434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25"/>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Deliverable performance by creator</a:t>
            </a:r>
          </a:p>
        </p:txBody>
      </p:sp>
      <p:sp>
        <p:nvSpPr>
          <p:cNvPr id="14" name="">
            <a:extLst xmlns:a="http://schemas.openxmlformats.org/drawingml/2006/main">
              <a:ext uri="{FF2B5EF4-FFF2-40B4-BE49-F238E27FC236}">
                <a16:creationId xmlns:a16="http://schemas.microsoft.com/office/drawing/2014/main" id="{9EECF8B0-77E5-40FD-B548-1630C981611B}"/>
              </a:ext>
            </a:extLst>
          </p:cNvPr>
          <p:cNvSpPr>
            <a:spLocks xmlns:a="http://schemas.openxmlformats.org/drawingml/2006/main" noGrp="1"/>
          </p:cNvSpPr>
          <p:nvPr/>
        </p:nvSpPr>
        <p:spPr>
          <a:xfrm xmlns:a="http://schemas.openxmlformats.org/drawingml/2006/main">
            <a:off x="7981950" y="48577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A3CBF2BA-67F8-443A-BDA5-677F6939CB46}"/>
              </a:ext>
            </a:extLst>
          </p:cNvPr>
          <p:cNvSpPr>
            <a:spLocks xmlns:a="http://schemas.openxmlformats.org/drawingml/2006/main" noGrp="1"/>
          </p:cNvSpPr>
          <p:nvPr/>
        </p:nvSpPr>
        <p:spPr>
          <a:xfrm xmlns:a="http://schemas.openxmlformats.org/drawingml/2006/main">
            <a:off x="8477250" y="4800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Milestones, approvals and spend</a:t>
            </a:r>
          </a:p>
        </p:txBody>
      </p:sp>
      <p:sp>
        <p:nvSpPr>
          <p:cNvPr id="16" name="">
            <a:extLst xmlns:a="http://schemas.openxmlformats.org/drawingml/2006/main">
              <a:ext uri="{FF2B5EF4-FFF2-40B4-BE49-F238E27FC236}">
                <a16:creationId xmlns:a16="http://schemas.microsoft.com/office/drawing/2014/main" id="{D855CF8A-BE99-4533-BB7B-BD1C4212FC66}"/>
              </a:ext>
            </a:extLst>
          </p:cNvPr>
          <p:cNvSpPr>
            <a:spLocks xmlns:a="http://schemas.openxmlformats.org/drawingml/2006/main" noGrp="1"/>
          </p:cNvSpPr>
          <p:nvPr/>
        </p:nvSpPr>
        <p:spPr>
          <a:xfrm xmlns:a="http://schemas.openxmlformats.org/drawingml/2006/main">
            <a:off x="7981950" y="53149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F68DD34B-834B-460C-970F-49F8ED2306A1}"/>
              </a:ext>
            </a:extLst>
          </p:cNvPr>
          <p:cNvSpPr>
            <a:spLocks xmlns:a="http://schemas.openxmlformats.org/drawingml/2006/main" noGrp="1"/>
          </p:cNvSpPr>
          <p:nvPr/>
        </p:nvSpPr>
        <p:spPr>
          <a:xfrm xmlns:a="http://schemas.openxmlformats.org/drawingml/2006/main">
            <a:off x="8477250" y="5257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4"/>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Export to PDF and secure share link</a:t>
            </a:r>
          </a:p>
        </p:txBody>
      </p:sp>
      <p:sp>
        <p:nvSpPr>
          <p:cNvPr id="18" name="">
            <a:extLst xmlns:a="http://schemas.openxmlformats.org/drawingml/2006/main">
              <a:ext uri="{FF2B5EF4-FFF2-40B4-BE49-F238E27FC236}">
                <a16:creationId xmlns:a16="http://schemas.microsoft.com/office/drawing/2014/main" id="{9FDAD492-B786-4EB0-A482-53B54935C3D0}"/>
              </a:ext>
            </a:extLst>
          </p:cNvPr>
          <p:cNvSpPr>
            <a:spLocks xmlns:a="http://schemas.openxmlformats.org/drawingml/2006/main" noGrp="1"/>
          </p:cNvSpPr>
          <p:nvPr/>
        </p:nvSpPr>
        <p:spPr>
          <a:xfrm xmlns:a="http://schemas.openxmlformats.org/drawingml/2006/main">
            <a:off x="628650" y="61341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717B6D"/>
                </a:solidFill>
                <a:latin typeface="Arial"/>
                <a:ea typeface="Arial"/>
                <a:cs typeface="Arial"/>
              </a:defRPr>
            </a:pPr>
            <a:r>
              <a:rPr sz="1050" b="0">
                <a:solidFill>
                  <a:srgbClr val="717B6D"/>
                </a:solidFill>
                <a:latin typeface="Arial"/>
                <a:ea typeface="Arial"/>
                <a:cs typeface="Arial"/>
              </a:rPr>
              <a:t>Data shown here is illustrative. Report generation is not live in the current pilot.</a:t>
            </a:r>
          </a:p>
        </p:txBody>
      </p:sp>
    </p:spTree>
    <p:extLst>
      <p:ext uri="{BB962C8B-B14F-4D97-AF65-F5344CB8AC3E}">
        <p14:creationId xmlns:p14="http://schemas.microsoft.com/office/powerpoint/2010/main" val="988996272"/>
      </p:ext>
    </p:extLst>
  </p:cSld>
</p:sld>
</file>

<file path=ppt/slides/slide1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634a213c4fa43f3"/>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D7D14F-722D-4297-95B3-DE41852FC2D9}"/>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DB08706-D96D-440C-9592-4F31DA561BC2}"/>
              </a:ext>
            </a:extLst>
          </p:cNvPr>
          <p:cNvSpPr>
            <a:spLocks xmlns:a="http://schemas.openxmlformats.org/drawingml/2006/main" noGrp="1"/>
          </p:cNvSpPr>
          <p:nvPr/>
        </p:nvSpPr>
        <p:spPr>
          <a:xfrm xmlns:a="http://schemas.openxmlformats.org/drawingml/2006/main">
            <a:off x="609600" y="990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PROPOSED PILOT</a:t>
            </a:r>
          </a:p>
        </p:txBody>
      </p:sp>
      <p:sp>
        <p:nvSpPr>
          <p:cNvPr id="4" name="">
            <a:extLst xmlns:a="http://schemas.openxmlformats.org/drawingml/2006/main">
              <a:ext uri="{FF2B5EF4-FFF2-40B4-BE49-F238E27FC236}">
                <a16:creationId xmlns:a16="http://schemas.microsoft.com/office/drawing/2014/main" id="{699855DC-FDA4-44B5-9961-B816FEE73DE7}"/>
              </a:ext>
            </a:extLst>
          </p:cNvPr>
          <p:cNvSpPr>
            <a:spLocks xmlns:a="http://schemas.openxmlformats.org/drawingml/2006/main" noGrp="1"/>
          </p:cNvSpPr>
          <p:nvPr/>
        </p:nvSpPr>
        <p:spPr>
          <a:xfrm xmlns:a="http://schemas.openxmlformats.org/drawingml/2006/main">
            <a:off x="609600" y="12954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34"/>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An eight-week test of real campaign operations</a:t>
            </a:r>
          </a:p>
        </p:txBody>
      </p:sp>
      <p:sp>
        <p:nvSpPr>
          <p:cNvPr id="5" name="">
            <a:extLst xmlns:a="http://schemas.openxmlformats.org/drawingml/2006/main">
              <a:ext uri="{FF2B5EF4-FFF2-40B4-BE49-F238E27FC236}">
                <a16:creationId xmlns:a16="http://schemas.microsoft.com/office/drawing/2014/main" id="{C834DBA5-4713-41E6-8EB9-3DC4EAB90285}"/>
              </a:ext>
            </a:extLst>
          </p:cNvPr>
          <p:cNvSpPr>
            <a:spLocks xmlns:a="http://schemas.openxmlformats.org/drawingml/2006/main" noGrp="1"/>
          </p:cNvSpPr>
          <p:nvPr/>
        </p:nvSpPr>
        <p:spPr>
          <a:xfrm xmlns:a="http://schemas.openxmlformats.org/drawingml/2006/main">
            <a:off x="6286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4F973"/>
                </a:solidFill>
                <a:latin typeface="Arial"/>
                <a:ea typeface="Arial"/>
                <a:cs typeface="Arial"/>
              </a:defRPr>
            </a:pPr>
            <a:r>
              <a:rPr sz="1125" b="1">
                <a:solidFill>
                  <a:srgbClr val="D4F973"/>
                </a:solidFill>
                <a:latin typeface="Arial"/>
                <a:ea typeface="Arial"/>
                <a:cs typeface="Arial"/>
              </a:rPr>
              <a:t>Weeks 1–2</a:t>
            </a:r>
          </a:p>
        </p:txBody>
      </p:sp>
      <p:sp>
        <p:nvSpPr>
          <p:cNvPr id="6" name="">
            <a:extLst xmlns:a="http://schemas.openxmlformats.org/drawingml/2006/main">
              <a:ext uri="{FF2B5EF4-FFF2-40B4-BE49-F238E27FC236}">
                <a16:creationId xmlns:a16="http://schemas.microsoft.com/office/drawing/2014/main" id="{56CC2BB9-6537-4E98-A93C-892F50EBB05E}"/>
              </a:ext>
            </a:extLst>
          </p:cNvPr>
          <p:cNvSpPr>
            <a:spLocks xmlns:a="http://schemas.openxmlformats.org/drawingml/2006/main" noGrp="1"/>
          </p:cNvSpPr>
          <p:nvPr/>
        </p:nvSpPr>
        <p:spPr>
          <a:xfrm xmlns:a="http://schemas.openxmlformats.org/drawingml/2006/main">
            <a:off x="628650" y="3009900"/>
            <a:ext cx="3143250" cy="0"/>
          </a:xfrm>
          <a:prstGeom xmlns:a="http://schemas.openxmlformats.org/drawingml/2006/main" prst="line">
            <a:avLst/>
          </a:prstGeom>
          <a:noFill xmlns:a="http://schemas.openxmlformats.org/drawingml/2006/main"/>
          <a:ln xmlns:a="http://schemas.openxmlformats.org/drawingml/2006/main" w="28575">
            <a:solidFill>
              <a:srgbClr val="D4F973"/>
            </a:solidFill>
          </a:ln>
        </p:spPr>
      </p:sp>
      <p:sp>
        <p:nvSpPr>
          <p:cNvPr id="7" name="">
            <a:extLst xmlns:a="http://schemas.openxmlformats.org/drawingml/2006/main">
              <a:ext uri="{FF2B5EF4-FFF2-40B4-BE49-F238E27FC236}">
                <a16:creationId xmlns:a16="http://schemas.microsoft.com/office/drawing/2014/main" id="{8305E39F-D071-496A-87DB-2810FE0883EA}"/>
              </a:ext>
            </a:extLst>
          </p:cNvPr>
          <p:cNvSpPr>
            <a:spLocks xmlns:a="http://schemas.openxmlformats.org/drawingml/2006/main" noGrp="1"/>
          </p:cNvSpPr>
          <p:nvPr/>
        </p:nvSpPr>
        <p:spPr>
          <a:xfrm xmlns:a="http://schemas.openxmlformats.org/drawingml/2006/main">
            <a:off x="6286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Set up</a:t>
            </a:r>
          </a:p>
        </p:txBody>
      </p:sp>
      <p:sp>
        <p:nvSpPr>
          <p:cNvPr id="8" name="">
            <a:extLst xmlns:a="http://schemas.openxmlformats.org/drawingml/2006/main">
              <a:ext uri="{FF2B5EF4-FFF2-40B4-BE49-F238E27FC236}">
                <a16:creationId xmlns:a16="http://schemas.microsoft.com/office/drawing/2014/main" id="{1FC5E9F5-E8D5-4AEB-9234-3B027AA0A452}"/>
              </a:ext>
            </a:extLst>
          </p:cNvPr>
          <p:cNvSpPr>
            <a:spLocks xmlns:a="http://schemas.openxmlformats.org/drawingml/2006/main" noGrp="1"/>
          </p:cNvSpPr>
          <p:nvPr/>
        </p:nvSpPr>
        <p:spPr>
          <a:xfrm xmlns:a="http://schemas.openxmlformats.org/drawingml/2006/main">
            <a:off x="6286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Choose one agency, one brand campaign and a small creator group.</a:t>
            </a:r>
          </a:p>
        </p:txBody>
      </p:sp>
      <p:sp>
        <p:nvSpPr>
          <p:cNvPr id="9" name="">
            <a:extLst xmlns:a="http://schemas.openxmlformats.org/drawingml/2006/main">
              <a:ext uri="{FF2B5EF4-FFF2-40B4-BE49-F238E27FC236}">
                <a16:creationId xmlns:a16="http://schemas.microsoft.com/office/drawing/2014/main" id="{C2286730-2362-483B-BF57-D203AF828CAB}"/>
              </a:ext>
            </a:extLst>
          </p:cNvPr>
          <p:cNvSpPr>
            <a:spLocks xmlns:a="http://schemas.openxmlformats.org/drawingml/2006/main" noGrp="1"/>
          </p:cNvSpPr>
          <p:nvPr/>
        </p:nvSpPr>
        <p:spPr>
          <a:xfrm xmlns:a="http://schemas.openxmlformats.org/drawingml/2006/main">
            <a:off x="441960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FE3CF"/>
                </a:solidFill>
                <a:latin typeface="Arial"/>
                <a:ea typeface="Arial"/>
                <a:cs typeface="Arial"/>
              </a:defRPr>
            </a:pPr>
            <a:r>
              <a:rPr sz="1125" b="1">
                <a:solidFill>
                  <a:srgbClr val="8FE3CF"/>
                </a:solidFill>
                <a:latin typeface="Arial"/>
                <a:ea typeface="Arial"/>
                <a:cs typeface="Arial"/>
              </a:rPr>
              <a:t>Weeks 3–6</a:t>
            </a:r>
          </a:p>
        </p:txBody>
      </p:sp>
      <p:sp>
        <p:nvSpPr>
          <p:cNvPr id="10" name="">
            <a:extLst xmlns:a="http://schemas.openxmlformats.org/drawingml/2006/main">
              <a:ext uri="{FF2B5EF4-FFF2-40B4-BE49-F238E27FC236}">
                <a16:creationId xmlns:a16="http://schemas.microsoft.com/office/drawing/2014/main" id="{D6D48C89-3566-4E03-892C-676E3BA75E49}"/>
              </a:ext>
            </a:extLst>
          </p:cNvPr>
          <p:cNvSpPr>
            <a:spLocks xmlns:a="http://schemas.openxmlformats.org/drawingml/2006/main" noGrp="1"/>
          </p:cNvSpPr>
          <p:nvPr/>
        </p:nvSpPr>
        <p:spPr>
          <a:xfrm xmlns:a="http://schemas.openxmlformats.org/drawingml/2006/main">
            <a:off x="4419600" y="3009900"/>
            <a:ext cx="3143250" cy="0"/>
          </a:xfrm>
          <a:prstGeom xmlns:a="http://schemas.openxmlformats.org/drawingml/2006/main" prst="line">
            <a:avLst/>
          </a:prstGeom>
          <a:noFill xmlns:a="http://schemas.openxmlformats.org/drawingml/2006/main"/>
          <a:ln xmlns:a="http://schemas.openxmlformats.org/drawingml/2006/main" w="28575">
            <a:solidFill>
              <a:srgbClr val="8FE3CF"/>
            </a:solidFill>
          </a:ln>
        </p:spPr>
      </p:sp>
      <p:sp>
        <p:nvSpPr>
          <p:cNvPr id="11" name="">
            <a:extLst xmlns:a="http://schemas.openxmlformats.org/drawingml/2006/main">
              <a:ext uri="{FF2B5EF4-FFF2-40B4-BE49-F238E27FC236}">
                <a16:creationId xmlns:a16="http://schemas.microsoft.com/office/drawing/2014/main" id="{F69BD7CB-7D71-4AD4-AF0B-17B76B27C2D7}"/>
              </a:ext>
            </a:extLst>
          </p:cNvPr>
          <p:cNvSpPr>
            <a:spLocks xmlns:a="http://schemas.openxmlformats.org/drawingml/2006/main" noGrp="1"/>
          </p:cNvSpPr>
          <p:nvPr/>
        </p:nvSpPr>
        <p:spPr>
          <a:xfrm xmlns:a="http://schemas.openxmlformats.org/drawingml/2006/main">
            <a:off x="441960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Run the campaign</a:t>
            </a:r>
          </a:p>
        </p:txBody>
      </p:sp>
      <p:sp>
        <p:nvSpPr>
          <p:cNvPr id="12" name="">
            <a:extLst xmlns:a="http://schemas.openxmlformats.org/drawingml/2006/main">
              <a:ext uri="{FF2B5EF4-FFF2-40B4-BE49-F238E27FC236}">
                <a16:creationId xmlns:a16="http://schemas.microsoft.com/office/drawing/2014/main" id="{82DC0CE0-1140-4DD5-AB22-5E53BD12253C}"/>
              </a:ext>
            </a:extLst>
          </p:cNvPr>
          <p:cNvSpPr>
            <a:spLocks xmlns:a="http://schemas.openxmlformats.org/drawingml/2006/main" noGrp="1"/>
          </p:cNvSpPr>
          <p:nvPr/>
        </p:nvSpPr>
        <p:spPr>
          <a:xfrm xmlns:a="http://schemas.openxmlformats.org/drawingml/2006/main">
            <a:off x="441960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Use CCF for the brief, assignments, feedback, approvals and milestone status.</a:t>
            </a:r>
          </a:p>
        </p:txBody>
      </p:sp>
      <p:sp>
        <p:nvSpPr>
          <p:cNvPr id="13" name="">
            <a:extLst xmlns:a="http://schemas.openxmlformats.org/drawingml/2006/main">
              <a:ext uri="{FF2B5EF4-FFF2-40B4-BE49-F238E27FC236}">
                <a16:creationId xmlns:a16="http://schemas.microsoft.com/office/drawing/2014/main" id="{48BBECCA-5459-4F48-8E36-2CBCA7C2CA8C}"/>
              </a:ext>
            </a:extLst>
          </p:cNvPr>
          <p:cNvSpPr>
            <a:spLocks xmlns:a="http://schemas.openxmlformats.org/drawingml/2006/main" noGrp="1"/>
          </p:cNvSpPr>
          <p:nvPr/>
        </p:nvSpPr>
        <p:spPr>
          <a:xfrm xmlns:a="http://schemas.openxmlformats.org/drawingml/2006/main">
            <a:off x="82105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D09A"/>
                </a:solidFill>
                <a:latin typeface="Arial"/>
                <a:ea typeface="Arial"/>
                <a:cs typeface="Arial"/>
              </a:defRPr>
            </a:pPr>
            <a:r>
              <a:rPr sz="1125" b="1">
                <a:solidFill>
                  <a:srgbClr val="FFD09A"/>
                </a:solidFill>
                <a:latin typeface="Arial"/>
                <a:ea typeface="Arial"/>
                <a:cs typeface="Arial"/>
              </a:rPr>
              <a:t>Weeks 7–8</a:t>
            </a:r>
          </a:p>
        </p:txBody>
      </p:sp>
      <p:sp>
        <p:nvSpPr>
          <p:cNvPr id="14" name="">
            <a:extLst xmlns:a="http://schemas.openxmlformats.org/drawingml/2006/main">
              <a:ext uri="{FF2B5EF4-FFF2-40B4-BE49-F238E27FC236}">
                <a16:creationId xmlns:a16="http://schemas.microsoft.com/office/drawing/2014/main" id="{105BE304-AB0B-4542-9D32-00BC4A860665}"/>
              </a:ext>
            </a:extLst>
          </p:cNvPr>
          <p:cNvSpPr>
            <a:spLocks xmlns:a="http://schemas.openxmlformats.org/drawingml/2006/main" noGrp="1"/>
          </p:cNvSpPr>
          <p:nvPr/>
        </p:nvSpPr>
        <p:spPr>
          <a:xfrm xmlns:a="http://schemas.openxmlformats.org/drawingml/2006/main">
            <a:off x="8210550" y="3009900"/>
            <a:ext cx="3143250" cy="0"/>
          </a:xfrm>
          <a:prstGeom xmlns:a="http://schemas.openxmlformats.org/drawingml/2006/main" prst="line">
            <a:avLst/>
          </a:prstGeom>
          <a:noFill xmlns:a="http://schemas.openxmlformats.org/drawingml/2006/main"/>
          <a:ln xmlns:a="http://schemas.openxmlformats.org/drawingml/2006/main" w="28575">
            <a:solidFill>
              <a:srgbClr val="FFD09A"/>
            </a:solidFill>
          </a:ln>
        </p:spPr>
      </p:sp>
      <p:sp>
        <p:nvSpPr>
          <p:cNvPr id="15" name="">
            <a:extLst xmlns:a="http://schemas.openxmlformats.org/drawingml/2006/main">
              <a:ext uri="{FF2B5EF4-FFF2-40B4-BE49-F238E27FC236}">
                <a16:creationId xmlns:a16="http://schemas.microsoft.com/office/drawing/2014/main" id="{96BD402D-72F7-4ADB-BD2E-45D1DFDC75E7}"/>
              </a:ext>
            </a:extLst>
          </p:cNvPr>
          <p:cNvSpPr>
            <a:spLocks xmlns:a="http://schemas.openxmlformats.org/drawingml/2006/main" noGrp="1"/>
          </p:cNvSpPr>
          <p:nvPr/>
        </p:nvSpPr>
        <p:spPr>
          <a:xfrm xmlns:a="http://schemas.openxmlformats.org/drawingml/2006/main">
            <a:off x="82105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Review evidence</a:t>
            </a:r>
          </a:p>
        </p:txBody>
      </p:sp>
      <p:sp>
        <p:nvSpPr>
          <p:cNvPr id="16" name="">
            <a:extLst xmlns:a="http://schemas.openxmlformats.org/drawingml/2006/main">
              <a:ext uri="{FF2B5EF4-FFF2-40B4-BE49-F238E27FC236}">
                <a16:creationId xmlns:a16="http://schemas.microsoft.com/office/drawing/2014/main" id="{0AE8809B-FA63-47D9-B487-FB0FEADF521A}"/>
              </a:ext>
            </a:extLst>
          </p:cNvPr>
          <p:cNvSpPr>
            <a:spLocks xmlns:a="http://schemas.openxmlformats.org/drawingml/2006/main" noGrp="1"/>
          </p:cNvSpPr>
          <p:nvPr/>
        </p:nvSpPr>
        <p:spPr>
          <a:xfrm xmlns:a="http://schemas.openxmlformats.org/drawingml/2006/main">
            <a:off x="82105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Compare turnaround, follow-ups, data trust and reporting needs.</a:t>
            </a:r>
          </a:p>
        </p:txBody>
      </p:sp>
      <p:sp>
        <p:nvSpPr>
          <p:cNvPr id="17" name="">
            <a:extLst xmlns:a="http://schemas.openxmlformats.org/drawingml/2006/main">
              <a:ext uri="{FF2B5EF4-FFF2-40B4-BE49-F238E27FC236}">
                <a16:creationId xmlns:a16="http://schemas.microsoft.com/office/drawing/2014/main" id="{08DA0940-CE47-4098-8BB1-4492B6CBA4BD}"/>
              </a:ext>
            </a:extLst>
          </p:cNvPr>
          <p:cNvSpPr>
            <a:spLocks xmlns:a="http://schemas.openxmlformats.org/drawingml/2006/main" noGrp="1"/>
          </p:cNvSpPr>
          <p:nvPr/>
        </p:nvSpPr>
        <p:spPr>
          <a:xfrm xmlns:a="http://schemas.openxmlformats.org/drawingml/2006/main">
            <a:off x="628650" y="5219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Pilot measures</a:t>
            </a:r>
          </a:p>
        </p:txBody>
      </p:sp>
      <p:sp>
        <p:nvSpPr>
          <p:cNvPr id="18" name="">
            <a:extLst xmlns:a="http://schemas.openxmlformats.org/drawingml/2006/main">
              <a:ext uri="{FF2B5EF4-FFF2-40B4-BE49-F238E27FC236}">
                <a16:creationId xmlns:a16="http://schemas.microsoft.com/office/drawing/2014/main" id="{B4E318F8-84E7-4079-9F48-9F8455FF001C}"/>
              </a:ext>
            </a:extLst>
          </p:cNvPr>
          <p:cNvSpPr>
            <a:spLocks xmlns:a="http://schemas.openxmlformats.org/drawingml/2006/main" noGrp="1"/>
          </p:cNvSpPr>
          <p:nvPr/>
        </p:nvSpPr>
        <p:spPr>
          <a:xfrm xmlns:a="http://schemas.openxmlformats.org/drawingml/2006/main">
            <a:off x="3314700" y="5219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Approval turnaround</a:t>
            </a:r>
          </a:p>
        </p:txBody>
      </p:sp>
      <p:sp>
        <p:nvSpPr>
          <p:cNvPr id="19" name="">
            <a:extLst xmlns:a="http://schemas.openxmlformats.org/drawingml/2006/main">
              <a:ext uri="{FF2B5EF4-FFF2-40B4-BE49-F238E27FC236}">
                <a16:creationId xmlns:a16="http://schemas.microsoft.com/office/drawing/2014/main" id="{3974AA3F-E203-423E-A491-B40CCB9C49D6}"/>
              </a:ext>
            </a:extLst>
          </p:cNvPr>
          <p:cNvSpPr>
            <a:spLocks xmlns:a="http://schemas.openxmlformats.org/drawingml/2006/main" noGrp="1"/>
          </p:cNvSpPr>
          <p:nvPr/>
        </p:nvSpPr>
        <p:spPr>
          <a:xfrm xmlns:a="http://schemas.openxmlformats.org/drawingml/2006/main">
            <a:off x="55626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8FE3CF"/>
                </a:solidFill>
                <a:latin typeface="Arial"/>
                <a:ea typeface="Arial"/>
                <a:cs typeface="Arial"/>
              </a:defRPr>
            </a:pPr>
            <a:r>
              <a:rPr sz="1350" b="1">
                <a:solidFill>
                  <a:srgbClr val="8FE3CF"/>
                </a:solidFill>
                <a:latin typeface="Arial"/>
                <a:ea typeface="Arial"/>
                <a:cs typeface="Arial"/>
              </a:rPr>
              <a:t>Follow-up volume</a:t>
            </a:r>
          </a:p>
        </p:txBody>
      </p:sp>
      <p:sp>
        <p:nvSpPr>
          <p:cNvPr id="20" name="">
            <a:extLst xmlns:a="http://schemas.openxmlformats.org/drawingml/2006/main">
              <a:ext uri="{FF2B5EF4-FFF2-40B4-BE49-F238E27FC236}">
                <a16:creationId xmlns:a16="http://schemas.microsoft.com/office/drawing/2014/main" id="{A6731ADB-549B-4F00-BA36-45A1725FDF68}"/>
              </a:ext>
            </a:extLst>
          </p:cNvPr>
          <p:cNvSpPr>
            <a:spLocks xmlns:a="http://schemas.openxmlformats.org/drawingml/2006/main" noGrp="1"/>
          </p:cNvSpPr>
          <p:nvPr/>
        </p:nvSpPr>
        <p:spPr>
          <a:xfrm xmlns:a="http://schemas.openxmlformats.org/drawingml/2006/main">
            <a:off x="7677150" y="5219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D09A"/>
                </a:solidFill>
                <a:latin typeface="Arial"/>
                <a:ea typeface="Arial"/>
                <a:cs typeface="Arial"/>
              </a:defRPr>
            </a:pPr>
            <a:r>
              <a:rPr sz="1350" b="1">
                <a:solidFill>
                  <a:srgbClr val="FFD09A"/>
                </a:solidFill>
                <a:latin typeface="Arial"/>
                <a:ea typeface="Arial"/>
                <a:cs typeface="Arial"/>
              </a:rPr>
              <a:t>Creator adoption</a:t>
            </a:r>
          </a:p>
        </p:txBody>
      </p:sp>
      <p:sp>
        <p:nvSpPr>
          <p:cNvPr id="21" name="">
            <a:extLst xmlns:a="http://schemas.openxmlformats.org/drawingml/2006/main">
              <a:ext uri="{FF2B5EF4-FFF2-40B4-BE49-F238E27FC236}">
                <a16:creationId xmlns:a16="http://schemas.microsoft.com/office/drawing/2014/main" id="{71D4EC1A-C27A-438C-B191-2DF0C4F2CBAE}"/>
              </a:ext>
            </a:extLst>
          </p:cNvPr>
          <p:cNvSpPr>
            <a:spLocks xmlns:a="http://schemas.openxmlformats.org/drawingml/2006/main" noGrp="1"/>
          </p:cNvSpPr>
          <p:nvPr/>
        </p:nvSpPr>
        <p:spPr>
          <a:xfrm xmlns:a="http://schemas.openxmlformats.org/drawingml/2006/main">
            <a:off x="95631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4F7EF"/>
                </a:solidFill>
                <a:latin typeface="Arial"/>
                <a:ea typeface="Arial"/>
                <a:cs typeface="Arial"/>
              </a:defRPr>
            </a:pPr>
            <a:r>
              <a:rPr sz="1350" b="1">
                <a:solidFill>
                  <a:srgbClr val="F4F7EF"/>
                </a:solidFill>
                <a:latin typeface="Arial"/>
                <a:ea typeface="Arial"/>
                <a:cs typeface="Arial"/>
              </a:rPr>
              <a:t>Report usefulness</a:t>
            </a:r>
          </a:p>
        </p:txBody>
      </p:sp>
      <p:sp>
        <p:nvSpPr>
          <p:cNvPr id="22" name="">
            <a:extLst xmlns:a="http://schemas.openxmlformats.org/drawingml/2006/main">
              <a:ext uri="{FF2B5EF4-FFF2-40B4-BE49-F238E27FC236}">
                <a16:creationId xmlns:a16="http://schemas.microsoft.com/office/drawing/2014/main" id="{53128785-A8F9-4463-9486-BF06750FB6C3}"/>
              </a:ext>
            </a:extLst>
          </p:cNvPr>
          <p:cNvSpPr>
            <a:spLocks xmlns:a="http://schemas.openxmlformats.org/drawingml/2006/main" noGrp="1"/>
          </p:cNvSpPr>
          <p:nvPr/>
        </p:nvSpPr>
        <p:spPr>
          <a:xfrm xmlns:a="http://schemas.openxmlformats.org/drawingml/2006/main">
            <a:off x="628650" y="6057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This is a proposed pilot structure. Scope and success thresholds should be agreed with each partner.</a:t>
            </a:r>
          </a:p>
        </p:txBody>
      </p:sp>
    </p:spTree>
    <p:extLst>
      <p:ext uri="{BB962C8B-B14F-4D97-AF65-F5344CB8AC3E}">
        <p14:creationId xmlns:p14="http://schemas.microsoft.com/office/powerpoint/2010/main" val="633492440"/>
      </p:ext>
    </p:extLst>
  </p:cSld>
</p:sld>
</file>

<file path=ppt/slides/slide12.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74a03df6b3e4c0e"/>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BACDDB-D7B9-48C7-9444-CC360292AB3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466968F5-0FD8-47C9-9154-87F0A8D85DD4}"/>
              </a:ext>
            </a:extLst>
          </p:cNvPr>
          <p:cNvSpPr>
            <a:spLocks xmlns:a="http://schemas.openxmlformats.org/drawingml/2006/main" noGrp="1"/>
          </p:cNvSpPr>
          <p:nvPr/>
        </p:nvSpPr>
        <p:spPr>
          <a:xfrm xmlns:a="http://schemas.openxmlformats.org/drawingml/2006/main">
            <a:off x="609600" y="9906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COMMERCIAL HYPOTHESES</a:t>
            </a:r>
          </a:p>
        </p:txBody>
      </p:sp>
      <p:sp>
        <p:nvSpPr>
          <p:cNvPr id="4" name="">
            <a:extLst xmlns:a="http://schemas.openxmlformats.org/drawingml/2006/main">
              <a:ext uri="{FF2B5EF4-FFF2-40B4-BE49-F238E27FC236}">
                <a16:creationId xmlns:a16="http://schemas.microsoft.com/office/drawing/2014/main" id="{27AF22A4-2D0D-4834-86E7-604907CA56A5}"/>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47"/>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Revenue follows the teams that coordinate and report</a:t>
            </a:r>
          </a:p>
        </p:txBody>
      </p:sp>
      <p:sp>
        <p:nvSpPr>
          <p:cNvPr id="5" name="">
            <a:extLst xmlns:a="http://schemas.openxmlformats.org/drawingml/2006/main">
              <a:ext uri="{FF2B5EF4-FFF2-40B4-BE49-F238E27FC236}">
                <a16:creationId xmlns:a16="http://schemas.microsoft.com/office/drawing/2014/main" id="{7553E6EA-C373-4A6B-ABC7-960630D74D2E}"/>
              </a:ext>
            </a:extLst>
          </p:cNvPr>
          <p:cNvSpPr>
            <a:spLocks xmlns:a="http://schemas.openxmlformats.org/drawingml/2006/main" noGrp="1"/>
          </p:cNvSpPr>
          <p:nvPr/>
        </p:nvSpPr>
        <p:spPr>
          <a:xfrm xmlns:a="http://schemas.openxmlformats.org/drawingml/2006/main">
            <a:off x="6286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 workspace</a:t>
            </a:r>
          </a:p>
        </p:txBody>
      </p:sp>
      <p:sp>
        <p:nvSpPr>
          <p:cNvPr id="6" name="">
            <a:extLst xmlns:a="http://schemas.openxmlformats.org/drawingml/2006/main">
              <a:ext uri="{FF2B5EF4-FFF2-40B4-BE49-F238E27FC236}">
                <a16:creationId xmlns:a16="http://schemas.microsoft.com/office/drawing/2014/main" id="{4A9F1B86-D710-40BC-829F-5DBB60E2839B}"/>
              </a:ext>
            </a:extLst>
          </p:cNvPr>
          <p:cNvSpPr>
            <a:spLocks xmlns:a="http://schemas.openxmlformats.org/drawingml/2006/main" noGrp="1"/>
          </p:cNvSpPr>
          <p:nvPr/>
        </p:nvSpPr>
        <p:spPr>
          <a:xfrm xmlns:a="http://schemas.openxmlformats.org/drawingml/2006/main">
            <a:off x="6286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SUBSCRIPTION HYPOTHESIS</a:t>
            </a:r>
          </a:p>
        </p:txBody>
      </p:sp>
      <p:sp>
        <p:nvSpPr>
          <p:cNvPr id="7" name="">
            <a:extLst xmlns:a="http://schemas.openxmlformats.org/drawingml/2006/main">
              <a:ext uri="{FF2B5EF4-FFF2-40B4-BE49-F238E27FC236}">
                <a16:creationId xmlns:a16="http://schemas.microsoft.com/office/drawing/2014/main" id="{492E3928-2DA5-4F5E-A1DB-CBFFF75AC017}"/>
              </a:ext>
            </a:extLst>
          </p:cNvPr>
          <p:cNvSpPr>
            <a:spLocks xmlns:a="http://schemas.openxmlformats.org/drawingml/2006/main" noGrp="1"/>
          </p:cNvSpPr>
          <p:nvPr/>
        </p:nvSpPr>
        <p:spPr>
          <a:xfrm xmlns:a="http://schemas.openxmlformats.org/drawingml/2006/main">
            <a:off x="6286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8" name="">
            <a:extLst xmlns:a="http://schemas.openxmlformats.org/drawingml/2006/main">
              <a:ext uri="{FF2B5EF4-FFF2-40B4-BE49-F238E27FC236}">
                <a16:creationId xmlns:a16="http://schemas.microsoft.com/office/drawing/2014/main" id="{B4DA6E8E-9A04-48A0-9995-0EB8293F652C}"/>
              </a:ext>
            </a:extLst>
          </p:cNvPr>
          <p:cNvSpPr>
            <a:spLocks xmlns:a="http://schemas.openxmlformats.org/drawingml/2006/main" noGrp="1"/>
          </p:cNvSpPr>
          <p:nvPr/>
        </p:nvSpPr>
        <p:spPr>
          <a:xfrm xmlns:a="http://schemas.openxmlformats.org/drawingml/2006/main">
            <a:off x="6286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Roster management, campaign workflow and team collaboration.</a:t>
            </a:r>
          </a:p>
        </p:txBody>
      </p:sp>
      <p:sp>
        <p:nvSpPr>
          <p:cNvPr id="9" name="">
            <a:extLst xmlns:a="http://schemas.openxmlformats.org/drawingml/2006/main">
              <a:ext uri="{FF2B5EF4-FFF2-40B4-BE49-F238E27FC236}">
                <a16:creationId xmlns:a16="http://schemas.microsoft.com/office/drawing/2014/main" id="{975C4455-C76A-41F0-A52F-6A4E38000920}"/>
              </a:ext>
            </a:extLst>
          </p:cNvPr>
          <p:cNvSpPr>
            <a:spLocks xmlns:a="http://schemas.openxmlformats.org/drawingml/2006/main" noGrp="1"/>
          </p:cNvSpPr>
          <p:nvPr/>
        </p:nvSpPr>
        <p:spPr>
          <a:xfrm xmlns:a="http://schemas.openxmlformats.org/drawingml/2006/main">
            <a:off x="441960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 participation</a:t>
            </a:r>
          </a:p>
        </p:txBody>
      </p:sp>
      <p:sp>
        <p:nvSpPr>
          <p:cNvPr id="10" name="">
            <a:extLst xmlns:a="http://schemas.openxmlformats.org/drawingml/2006/main">
              <a:ext uri="{FF2B5EF4-FFF2-40B4-BE49-F238E27FC236}">
                <a16:creationId xmlns:a16="http://schemas.microsoft.com/office/drawing/2014/main" id="{154AD292-F143-4156-89D3-7372811EDD36}"/>
              </a:ext>
            </a:extLst>
          </p:cNvPr>
          <p:cNvSpPr>
            <a:spLocks xmlns:a="http://schemas.openxmlformats.org/drawingml/2006/main" noGrp="1"/>
          </p:cNvSpPr>
          <p:nvPr/>
        </p:nvSpPr>
        <p:spPr>
          <a:xfrm xmlns:a="http://schemas.openxmlformats.org/drawingml/2006/main">
            <a:off x="441960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4F9B89"/>
                </a:solidFill>
                <a:latin typeface="Arial"/>
                <a:ea typeface="Arial"/>
                <a:cs typeface="Arial"/>
              </a:defRPr>
            </a:pPr>
            <a:r>
              <a:rPr sz="900" b="1">
                <a:solidFill>
                  <a:srgbClr val="4F9B89"/>
                </a:solidFill>
                <a:latin typeface="Arial"/>
                <a:ea typeface="Arial"/>
                <a:cs typeface="Arial"/>
              </a:rPr>
              <a:t>CAMPAIGN OR WORKSPACE HYPOTHESIS</a:t>
            </a:r>
          </a:p>
        </p:txBody>
      </p:sp>
      <p:sp>
        <p:nvSpPr>
          <p:cNvPr id="11" name="">
            <a:extLst xmlns:a="http://schemas.openxmlformats.org/drawingml/2006/main">
              <a:ext uri="{FF2B5EF4-FFF2-40B4-BE49-F238E27FC236}">
                <a16:creationId xmlns:a16="http://schemas.microsoft.com/office/drawing/2014/main" id="{3836ACF7-5BC0-44E2-9447-60EC96BCFA30}"/>
              </a:ext>
            </a:extLst>
          </p:cNvPr>
          <p:cNvSpPr>
            <a:spLocks xmlns:a="http://schemas.openxmlformats.org/drawingml/2006/main" noGrp="1"/>
          </p:cNvSpPr>
          <p:nvPr/>
        </p:nvSpPr>
        <p:spPr>
          <a:xfrm xmlns:a="http://schemas.openxmlformats.org/drawingml/2006/main">
            <a:off x="441960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2" name="">
            <a:extLst xmlns:a="http://schemas.openxmlformats.org/drawingml/2006/main">
              <a:ext uri="{FF2B5EF4-FFF2-40B4-BE49-F238E27FC236}">
                <a16:creationId xmlns:a16="http://schemas.microsoft.com/office/drawing/2014/main" id="{BB61622A-05F3-410F-83FA-3C086BDA8D70}"/>
              </a:ext>
            </a:extLst>
          </p:cNvPr>
          <p:cNvSpPr>
            <a:spLocks xmlns:a="http://schemas.openxmlformats.org/drawingml/2006/main" noGrp="1"/>
          </p:cNvSpPr>
          <p:nvPr/>
        </p:nvSpPr>
        <p:spPr>
          <a:xfrm xmlns:a="http://schemas.openxmlformats.org/drawingml/2006/main">
            <a:off x="441960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Approvals, performance visibility and client reporting.</a:t>
            </a:r>
          </a:p>
        </p:txBody>
      </p:sp>
      <p:sp>
        <p:nvSpPr>
          <p:cNvPr id="13" name="">
            <a:extLst xmlns:a="http://schemas.openxmlformats.org/drawingml/2006/main">
              <a:ext uri="{FF2B5EF4-FFF2-40B4-BE49-F238E27FC236}">
                <a16:creationId xmlns:a16="http://schemas.microsoft.com/office/drawing/2014/main" id="{1415CC0E-03BA-433A-AEEC-AC9DA69712A9}"/>
              </a:ext>
            </a:extLst>
          </p:cNvPr>
          <p:cNvSpPr>
            <a:spLocks xmlns:a="http://schemas.openxmlformats.org/drawingml/2006/main" noGrp="1"/>
          </p:cNvSpPr>
          <p:nvPr/>
        </p:nvSpPr>
        <p:spPr>
          <a:xfrm xmlns:a="http://schemas.openxmlformats.org/drawingml/2006/main">
            <a:off x="82105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Premium capabilities</a:t>
            </a:r>
          </a:p>
        </p:txBody>
      </p:sp>
      <p:sp>
        <p:nvSpPr>
          <p:cNvPr id="14" name="">
            <a:extLst xmlns:a="http://schemas.openxmlformats.org/drawingml/2006/main">
              <a:ext uri="{FF2B5EF4-FFF2-40B4-BE49-F238E27FC236}">
                <a16:creationId xmlns:a16="http://schemas.microsoft.com/office/drawing/2014/main" id="{84D5B9B1-2A8F-4E1C-B99E-4F64FD4FE470}"/>
              </a:ext>
            </a:extLst>
          </p:cNvPr>
          <p:cNvSpPr>
            <a:spLocks xmlns:a="http://schemas.openxmlformats.org/drawingml/2006/main" noGrp="1"/>
          </p:cNvSpPr>
          <p:nvPr/>
        </p:nvSpPr>
        <p:spPr>
          <a:xfrm xmlns:a="http://schemas.openxmlformats.org/drawingml/2006/main">
            <a:off x="82105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A7753C"/>
                </a:solidFill>
                <a:latin typeface="Arial"/>
                <a:ea typeface="Arial"/>
                <a:cs typeface="Arial"/>
              </a:defRPr>
            </a:pPr>
            <a:r>
              <a:rPr sz="900" b="1">
                <a:solidFill>
                  <a:srgbClr val="A7753C"/>
                </a:solidFill>
                <a:latin typeface="Arial"/>
                <a:ea typeface="Arial"/>
                <a:cs typeface="Arial"/>
              </a:rPr>
              <a:t>EXPANSION HYPOTHESIS</a:t>
            </a:r>
          </a:p>
        </p:txBody>
      </p:sp>
      <p:sp>
        <p:nvSpPr>
          <p:cNvPr id="15" name="">
            <a:extLst xmlns:a="http://schemas.openxmlformats.org/drawingml/2006/main">
              <a:ext uri="{FF2B5EF4-FFF2-40B4-BE49-F238E27FC236}">
                <a16:creationId xmlns:a16="http://schemas.microsoft.com/office/drawing/2014/main" id="{60716980-1639-4170-962B-654E3D84C398}"/>
              </a:ext>
            </a:extLst>
          </p:cNvPr>
          <p:cNvSpPr>
            <a:spLocks xmlns:a="http://schemas.openxmlformats.org/drawingml/2006/main" noGrp="1"/>
          </p:cNvSpPr>
          <p:nvPr/>
        </p:nvSpPr>
        <p:spPr>
          <a:xfrm xmlns:a="http://schemas.openxmlformats.org/drawingml/2006/main">
            <a:off x="82105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6" name="">
            <a:extLst xmlns:a="http://schemas.openxmlformats.org/drawingml/2006/main">
              <a:ext uri="{FF2B5EF4-FFF2-40B4-BE49-F238E27FC236}">
                <a16:creationId xmlns:a16="http://schemas.microsoft.com/office/drawing/2014/main" id="{3333B257-F7F2-4101-9FC3-FB7F84A7A784}"/>
              </a:ext>
            </a:extLst>
          </p:cNvPr>
          <p:cNvSpPr>
            <a:spLocks xmlns:a="http://schemas.openxmlformats.org/drawingml/2006/main" noGrp="1"/>
          </p:cNvSpPr>
          <p:nvPr/>
        </p:nvSpPr>
        <p:spPr>
          <a:xfrm xmlns:a="http://schemas.openxmlformats.org/drawingml/2006/main">
            <a:off x="82105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Production data connections, generated reports and deeper financial operations.</a:t>
            </a:r>
          </a:p>
        </p:txBody>
      </p:sp>
      <p:sp>
        <p:nvSpPr>
          <p:cNvPr id="17" name="">
            <a:extLst xmlns:a="http://schemas.openxmlformats.org/drawingml/2006/main">
              <a:ext uri="{FF2B5EF4-FFF2-40B4-BE49-F238E27FC236}">
                <a16:creationId xmlns:a16="http://schemas.microsoft.com/office/drawing/2014/main" id="{24134097-7BA2-4C29-B0FC-6D0BF5ABAE2B}"/>
              </a:ext>
            </a:extLst>
          </p:cNvPr>
          <p:cNvSpPr>
            <a:spLocks xmlns:a="http://schemas.openxmlformats.org/drawingml/2006/main" noGrp="1"/>
          </p:cNvSpPr>
          <p:nvPr/>
        </p:nvSpPr>
        <p:spPr>
          <a:xfrm xmlns:a="http://schemas.openxmlformats.org/drawingml/2006/main">
            <a:off x="628650" y="5162550"/>
            <a:ext cx="10877550" cy="838200"/>
          </a:xfrm>
          <a:prstGeom xmlns:a="http://schemas.openxmlformats.org/drawingml/2006/main" prst="roundRect">
            <a:avLst>
              <a:gd name="adj" fmla="val 20455"/>
            </a:avLst>
          </a:prstGeom>
          <a:solidFill xmlns:a="http://schemas.openxmlformats.org/drawingml/2006/main">
            <a:srgbClr val="172217"/>
          </a:solidFill>
          <a:ln xmlns:a="http://schemas.openxmlformats.org/drawingml/2006/main" w="9525">
            <a:solidFill>
              <a:srgbClr val="304130"/>
            </a:solidFill>
          </a:ln>
        </p:spPr>
      </p:sp>
      <p:sp>
        <p:nvSpPr>
          <p:cNvPr id="18" name="">
            <a:extLst xmlns:a="http://schemas.openxmlformats.org/drawingml/2006/main">
              <a:ext uri="{FF2B5EF4-FFF2-40B4-BE49-F238E27FC236}">
                <a16:creationId xmlns:a16="http://schemas.microsoft.com/office/drawing/2014/main" id="{E0602B53-606B-46D3-A384-EDB13D3D8B4F}"/>
              </a:ext>
            </a:extLst>
          </p:cNvPr>
          <p:cNvSpPr>
            <a:spLocks xmlns:a="http://schemas.openxmlformats.org/drawingml/2006/main" noGrp="1"/>
          </p:cNvSpPr>
          <p:nvPr/>
        </p:nvSpPr>
        <p:spPr>
          <a:xfrm xmlns:a="http://schemas.openxmlformats.org/drawingml/2006/main">
            <a:off x="876300" y="53530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priorities</a:t>
            </a:r>
          </a:p>
        </p:txBody>
      </p:sp>
      <p:sp>
        <p:nvSpPr>
          <p:cNvPr id="19" name="">
            <a:extLst xmlns:a="http://schemas.openxmlformats.org/drawingml/2006/main">
              <a:ext uri="{FF2B5EF4-FFF2-40B4-BE49-F238E27FC236}">
                <a16:creationId xmlns:a16="http://schemas.microsoft.com/office/drawing/2014/main" id="{D85C8663-B99A-4E5C-A5A2-9477DBF09CE9}"/>
              </a:ext>
            </a:extLst>
          </p:cNvPr>
          <p:cNvSpPr>
            <a:spLocks xmlns:a="http://schemas.openxmlformats.org/drawingml/2006/main" noGrp="1"/>
          </p:cNvSpPr>
          <p:nvPr/>
        </p:nvSpPr>
        <p:spPr>
          <a:xfrm xmlns:a="http://schemas.openxmlformats.org/drawingml/2006/main">
            <a:off x="3143250" y="52959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3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Phyllo production access</a:t>
            </a:r>
          </a:p>
        </p:txBody>
      </p:sp>
      <p:sp>
        <p:nvSpPr>
          <p:cNvPr id="20" name="">
            <a:extLst xmlns:a="http://schemas.openxmlformats.org/drawingml/2006/main">
              <a:ext uri="{FF2B5EF4-FFF2-40B4-BE49-F238E27FC236}">
                <a16:creationId xmlns:a16="http://schemas.microsoft.com/office/drawing/2014/main" id="{7B3B3767-CFAC-420B-A25A-81B6DF6DAA67}"/>
              </a:ext>
            </a:extLst>
          </p:cNvPr>
          <p:cNvSpPr>
            <a:spLocks xmlns:a="http://schemas.openxmlformats.org/drawingml/2006/main" noGrp="1"/>
          </p:cNvSpPr>
          <p:nvPr/>
        </p:nvSpPr>
        <p:spPr>
          <a:xfrm xmlns:a="http://schemas.openxmlformats.org/drawingml/2006/main">
            <a:off x="5372100" y="52959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56"/>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Security and privacy review</a:t>
            </a:r>
          </a:p>
        </p:txBody>
      </p:sp>
      <p:sp>
        <p:nvSpPr>
          <p:cNvPr id="21" name="">
            <a:extLst xmlns:a="http://schemas.openxmlformats.org/drawingml/2006/main">
              <a:ext uri="{FF2B5EF4-FFF2-40B4-BE49-F238E27FC236}">
                <a16:creationId xmlns:a16="http://schemas.microsoft.com/office/drawing/2014/main" id="{4A333BF3-3B78-48F7-AD2E-6AF4D9D8A69D}"/>
              </a:ext>
            </a:extLst>
          </p:cNvPr>
          <p:cNvSpPr>
            <a:spLocks xmlns:a="http://schemas.openxmlformats.org/drawingml/2006/main" noGrp="1"/>
          </p:cNvSpPr>
          <p:nvPr/>
        </p:nvSpPr>
        <p:spPr>
          <a:xfrm xmlns:a="http://schemas.openxmlformats.org/drawingml/2006/main">
            <a:off x="7791450" y="52959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Reporting and exports</a:t>
            </a:r>
          </a:p>
        </p:txBody>
      </p:sp>
      <p:sp>
        <p:nvSpPr>
          <p:cNvPr id="22" name="">
            <a:extLst xmlns:a="http://schemas.openxmlformats.org/drawingml/2006/main">
              <a:ext uri="{FF2B5EF4-FFF2-40B4-BE49-F238E27FC236}">
                <a16:creationId xmlns:a16="http://schemas.microsoft.com/office/drawing/2014/main" id="{6A0E99E8-35E0-490E-BBAF-306545933DEA}"/>
              </a:ext>
            </a:extLst>
          </p:cNvPr>
          <p:cNvSpPr>
            <a:spLocks xmlns:a="http://schemas.openxmlformats.org/drawingml/2006/main" noGrp="1"/>
          </p:cNvSpPr>
          <p:nvPr/>
        </p:nvSpPr>
        <p:spPr>
          <a:xfrm xmlns:a="http://schemas.openxmlformats.org/drawingml/2006/main">
            <a:off x="9620250" y="52959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Pilot onboarding</a:t>
            </a:r>
          </a:p>
        </p:txBody>
      </p:sp>
      <p:sp>
        <p:nvSpPr>
          <p:cNvPr id="23" name="">
            <a:extLst xmlns:a="http://schemas.openxmlformats.org/drawingml/2006/main">
              <a:ext uri="{FF2B5EF4-FFF2-40B4-BE49-F238E27FC236}">
                <a16:creationId xmlns:a16="http://schemas.microsoft.com/office/drawing/2014/main" id="{955DA037-DD7C-44FE-A33E-2576B9AF01F3}"/>
              </a:ext>
            </a:extLst>
          </p:cNvPr>
          <p:cNvSpPr>
            <a:spLocks xmlns:a="http://schemas.openxmlformats.org/drawingml/2006/main" noGrp="1"/>
          </p:cNvSpPr>
          <p:nvPr/>
        </p:nvSpPr>
        <p:spPr>
          <a:xfrm xmlns:a="http://schemas.openxmlformats.org/drawingml/2006/main">
            <a:off x="628650" y="61912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97466"/>
                </a:solidFill>
                <a:latin typeface="Arial"/>
                <a:ea typeface="Arial"/>
                <a:cs typeface="Arial"/>
              </a:defRPr>
            </a:pPr>
            <a:r>
              <a:rPr sz="1050" b="0">
                <a:solidFill>
                  <a:srgbClr val="697466"/>
                </a:solidFill>
                <a:latin typeface="Arial"/>
                <a:ea typeface="Arial"/>
                <a:cs typeface="Arial"/>
              </a:rPr>
              <a:t>Pricing and funding requirements remain hypotheses until the pilot produces usage and cost evidence.</a:t>
            </a:r>
          </a:p>
        </p:txBody>
      </p:sp>
    </p:spTree>
    <p:extLst>
      <p:ext uri="{BB962C8B-B14F-4D97-AF65-F5344CB8AC3E}">
        <p14:creationId xmlns:p14="http://schemas.microsoft.com/office/powerpoint/2010/main" val="958903115"/>
      </p:ext>
    </p:extLst>
  </p:cSld>
</p:sld>
</file>

<file path=ppt/slides/slide1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f8f1209aec444a3"/>
          <a:stretch xmlns:a="http://schemas.openxmlformats.org/drawingml/2006/main"/>
        </p:blipFill>
        <p:spPr>
          <a:xfrm xmlns:a="http://schemas.openxmlformats.org/drawingml/2006/main">
            <a:off x="646887" y="41910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FFC975-83F8-4279-B435-90630304161A}"/>
              </a:ext>
            </a:extLst>
          </p:cNvPr>
          <p:cNvSpPr>
            <a:spLocks xmlns:a="http://schemas.openxmlformats.org/drawingml/2006/main" noGrp="1"/>
          </p:cNvSpPr>
          <p:nvPr/>
        </p:nvSpPr>
        <p:spPr>
          <a:xfrm xmlns:a="http://schemas.openxmlformats.org/drawingml/2006/main">
            <a:off x="628650" y="13906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PARTNERSHIP ASK</a:t>
            </a:r>
          </a:p>
        </p:txBody>
      </p:sp>
      <p:sp>
        <p:nvSpPr>
          <p:cNvPr id="3" name="">
            <a:extLst xmlns:a="http://schemas.openxmlformats.org/drawingml/2006/main">
              <a:ext uri="{FF2B5EF4-FFF2-40B4-BE49-F238E27FC236}">
                <a16:creationId xmlns:a16="http://schemas.microsoft.com/office/drawing/2014/main" id="{21F19DEA-ACC4-4F34-8016-8987F242C2CB}"/>
              </a:ext>
            </a:extLst>
          </p:cNvPr>
          <p:cNvSpPr>
            <a:spLocks xmlns:a="http://schemas.openxmlformats.org/drawingml/2006/main" noGrp="1"/>
          </p:cNvSpPr>
          <p:nvPr/>
        </p:nvSpPr>
        <p:spPr>
          <a:xfrm xmlns:a="http://schemas.openxmlformats.org/drawingml/2006/main">
            <a:off x="609600" y="1752600"/>
            <a:ext cx="8191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31"/>
          </a:bodyPr>
          <a:lstStyle xmlns:a="http://schemas.openxmlformats.org/drawingml/2006/main"/>
          <a:p xmlns:a="http://schemas.openxmlformats.org/drawingml/2006/main">
            <a:pPr algn="l">
              <a:defRPr sz="4350" b="1">
                <a:solidFill>
                  <a:srgbClr val="F4F7EF"/>
                </a:solidFill>
                <a:latin typeface="Arial"/>
                <a:ea typeface="Arial"/>
                <a:cs typeface="Arial"/>
              </a:defRPr>
            </a:pPr>
            <a:r>
              <a:rPr sz="4350" b="1">
                <a:solidFill>
                  <a:srgbClr val="F4F7EF"/>
                </a:solidFill>
                <a:latin typeface="Arial"/>
                <a:ea typeface="Arial"/>
                <a:cs typeface="Arial"/>
              </a:rPr>
              <a:t>Help us prove the operating layer for creator campaigns</a:t>
            </a:r>
          </a:p>
        </p:txBody>
      </p:sp>
      <p:sp>
        <p:nvSpPr>
          <p:cNvPr id="4" name="">
            <a:extLst xmlns:a="http://schemas.openxmlformats.org/drawingml/2006/main">
              <a:ext uri="{FF2B5EF4-FFF2-40B4-BE49-F238E27FC236}">
                <a16:creationId xmlns:a16="http://schemas.microsoft.com/office/drawing/2014/main" id="{244604C0-256B-4B12-A36E-83DB923A9EF1}"/>
              </a:ext>
            </a:extLst>
          </p:cNvPr>
          <p:cNvSpPr>
            <a:spLocks xmlns:a="http://schemas.openxmlformats.org/drawingml/2006/main" noGrp="1"/>
          </p:cNvSpPr>
          <p:nvPr/>
        </p:nvSpPr>
        <p:spPr>
          <a:xfrm xmlns:a="http://schemas.openxmlformats.org/drawingml/2006/main">
            <a:off x="647700" y="3524250"/>
            <a:ext cx="47625" cy="514350"/>
          </a:xfrm>
          <a:prstGeom xmlns:a="http://schemas.openxmlformats.org/drawingml/2006/main" prst="line">
            <a:avLst/>
          </a:prstGeom>
          <a:noFill xmlns:a="http://schemas.openxmlformats.org/drawingml/2006/main"/>
          <a:ln xmlns:a="http://schemas.openxmlformats.org/drawingml/2006/main" w="47625">
            <a:solidFill>
              <a:srgbClr val="8FE3CF"/>
            </a:solidFill>
          </a:ln>
        </p:spPr>
      </p:sp>
      <p:sp>
        <p:nvSpPr>
          <p:cNvPr id="5" name="">
            <a:extLst xmlns:a="http://schemas.openxmlformats.org/drawingml/2006/main">
              <a:ext uri="{FF2B5EF4-FFF2-40B4-BE49-F238E27FC236}">
                <a16:creationId xmlns:a16="http://schemas.microsoft.com/office/drawing/2014/main" id="{CEF6BCC9-67C6-409D-9BE4-529CFEC854E8}"/>
              </a:ext>
            </a:extLst>
          </p:cNvPr>
          <p:cNvSpPr>
            <a:spLocks xmlns:a="http://schemas.openxmlformats.org/drawingml/2006/main" noGrp="1"/>
          </p:cNvSpPr>
          <p:nvPr/>
        </p:nvSpPr>
        <p:spPr>
          <a:xfrm xmlns:a="http://schemas.openxmlformats.org/drawingml/2006/main">
            <a:off x="895350" y="34480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Agency partners</a:t>
            </a:r>
          </a:p>
        </p:txBody>
      </p:sp>
      <p:sp>
        <p:nvSpPr>
          <p:cNvPr id="6" name="">
            <a:extLst xmlns:a="http://schemas.openxmlformats.org/drawingml/2006/main">
              <a:ext uri="{FF2B5EF4-FFF2-40B4-BE49-F238E27FC236}">
                <a16:creationId xmlns:a16="http://schemas.microsoft.com/office/drawing/2014/main" id="{0AAD771D-2715-4AAE-B2A9-AA2F9DBF9E9E}"/>
              </a:ext>
            </a:extLst>
          </p:cNvPr>
          <p:cNvSpPr>
            <a:spLocks xmlns:a="http://schemas.openxmlformats.org/drawingml/2006/main" noGrp="1"/>
          </p:cNvSpPr>
          <p:nvPr/>
        </p:nvSpPr>
        <p:spPr>
          <a:xfrm xmlns:a="http://schemas.openxmlformats.org/drawingml/2006/main">
            <a:off x="3257550" y="34480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Run a live campaign and shape the manager workflow.</a:t>
            </a:r>
          </a:p>
        </p:txBody>
      </p:sp>
      <p:sp>
        <p:nvSpPr>
          <p:cNvPr id="7" name="">
            <a:extLst xmlns:a="http://schemas.openxmlformats.org/drawingml/2006/main">
              <a:ext uri="{FF2B5EF4-FFF2-40B4-BE49-F238E27FC236}">
                <a16:creationId xmlns:a16="http://schemas.microsoft.com/office/drawing/2014/main" id="{4A0E99C9-D164-43EC-957D-A1A95EECF40E}"/>
              </a:ext>
            </a:extLst>
          </p:cNvPr>
          <p:cNvSpPr>
            <a:spLocks xmlns:a="http://schemas.openxmlformats.org/drawingml/2006/main" noGrp="1"/>
          </p:cNvSpPr>
          <p:nvPr/>
        </p:nvSpPr>
        <p:spPr>
          <a:xfrm xmlns:a="http://schemas.openxmlformats.org/drawingml/2006/main">
            <a:off x="647700" y="4229100"/>
            <a:ext cx="47625" cy="514350"/>
          </a:xfrm>
          <a:prstGeom xmlns:a="http://schemas.openxmlformats.org/drawingml/2006/main" prst="line">
            <a:avLst/>
          </a:prstGeom>
          <a:noFill xmlns:a="http://schemas.openxmlformats.org/drawingml/2006/main"/>
          <a:ln xmlns:a="http://schemas.openxmlformats.org/drawingml/2006/main" w="47625">
            <a:solidFill>
              <a:srgbClr val="FFD09A"/>
            </a:solidFill>
          </a:ln>
        </p:spPr>
      </p:sp>
      <p:sp>
        <p:nvSpPr>
          <p:cNvPr id="8" name="">
            <a:extLst xmlns:a="http://schemas.openxmlformats.org/drawingml/2006/main">
              <a:ext uri="{FF2B5EF4-FFF2-40B4-BE49-F238E27FC236}">
                <a16:creationId xmlns:a16="http://schemas.microsoft.com/office/drawing/2014/main" id="{E721ECAD-7250-47FE-B984-184DFF397C9A}"/>
              </a:ext>
            </a:extLst>
          </p:cNvPr>
          <p:cNvSpPr>
            <a:spLocks xmlns:a="http://schemas.openxmlformats.org/drawingml/2006/main" noGrp="1"/>
          </p:cNvSpPr>
          <p:nvPr/>
        </p:nvSpPr>
        <p:spPr>
          <a:xfrm xmlns:a="http://schemas.openxmlformats.org/drawingml/2006/main">
            <a:off x="895350" y="41529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Brand partners</a:t>
            </a:r>
          </a:p>
        </p:txBody>
      </p:sp>
      <p:sp>
        <p:nvSpPr>
          <p:cNvPr id="9" name="">
            <a:extLst xmlns:a="http://schemas.openxmlformats.org/drawingml/2006/main">
              <a:ext uri="{FF2B5EF4-FFF2-40B4-BE49-F238E27FC236}">
                <a16:creationId xmlns:a16="http://schemas.microsoft.com/office/drawing/2014/main" id="{C0C12130-94F8-4C42-B7A2-38E1B7933FB7}"/>
              </a:ext>
            </a:extLst>
          </p:cNvPr>
          <p:cNvSpPr>
            <a:spLocks xmlns:a="http://schemas.openxmlformats.org/drawingml/2006/main" noGrp="1"/>
          </p:cNvSpPr>
          <p:nvPr/>
        </p:nvSpPr>
        <p:spPr>
          <a:xfrm xmlns:a="http://schemas.openxmlformats.org/drawingml/2006/main">
            <a:off x="3257550" y="4152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Test approvals, evidence and reporting access.</a:t>
            </a:r>
          </a:p>
        </p:txBody>
      </p:sp>
      <p:sp>
        <p:nvSpPr>
          <p:cNvPr id="10" name="">
            <a:extLst xmlns:a="http://schemas.openxmlformats.org/drawingml/2006/main">
              <a:ext uri="{FF2B5EF4-FFF2-40B4-BE49-F238E27FC236}">
                <a16:creationId xmlns:a16="http://schemas.microsoft.com/office/drawing/2014/main" id="{82338F11-FF36-4A71-857A-6F83A28AA4FD}"/>
              </a:ext>
            </a:extLst>
          </p:cNvPr>
          <p:cNvSpPr>
            <a:spLocks xmlns:a="http://schemas.openxmlformats.org/drawingml/2006/main" noGrp="1"/>
          </p:cNvSpPr>
          <p:nvPr/>
        </p:nvSpPr>
        <p:spPr>
          <a:xfrm xmlns:a="http://schemas.openxmlformats.org/drawingml/2006/main">
            <a:off x="647700" y="4933950"/>
            <a:ext cx="47625" cy="514350"/>
          </a:xfrm>
          <a:prstGeom xmlns:a="http://schemas.openxmlformats.org/drawingml/2006/main" prst="line">
            <a:avLst/>
          </a:prstGeom>
          <a:noFill xmlns:a="http://schemas.openxmlformats.org/drawingml/2006/main"/>
          <a:ln xmlns:a="http://schemas.openxmlformats.org/drawingml/2006/main" w="47625">
            <a:solidFill>
              <a:srgbClr val="D4F973"/>
            </a:solidFill>
          </a:ln>
        </p:spPr>
      </p:sp>
      <p:sp>
        <p:nvSpPr>
          <p:cNvPr id="11" name="">
            <a:extLst xmlns:a="http://schemas.openxmlformats.org/drawingml/2006/main">
              <a:ext uri="{FF2B5EF4-FFF2-40B4-BE49-F238E27FC236}">
                <a16:creationId xmlns:a16="http://schemas.microsoft.com/office/drawing/2014/main" id="{52CB0CB6-03F2-47FC-B5C1-D0528378058A}"/>
              </a:ext>
            </a:extLst>
          </p:cNvPr>
          <p:cNvSpPr>
            <a:spLocks xmlns:a="http://schemas.openxmlformats.org/drawingml/2006/main" noGrp="1"/>
          </p:cNvSpPr>
          <p:nvPr/>
        </p:nvSpPr>
        <p:spPr>
          <a:xfrm xmlns:a="http://schemas.openxmlformats.org/drawingml/2006/main">
            <a:off x="895350" y="4857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partners</a:t>
            </a:r>
          </a:p>
        </p:txBody>
      </p:sp>
      <p:sp>
        <p:nvSpPr>
          <p:cNvPr id="12" name="">
            <a:extLst xmlns:a="http://schemas.openxmlformats.org/drawingml/2006/main">
              <a:ext uri="{FF2B5EF4-FFF2-40B4-BE49-F238E27FC236}">
                <a16:creationId xmlns:a16="http://schemas.microsoft.com/office/drawing/2014/main" id="{00A62F83-9E10-4E0D-9FCD-682CA157B683}"/>
              </a:ext>
            </a:extLst>
          </p:cNvPr>
          <p:cNvSpPr>
            <a:spLocks xmlns:a="http://schemas.openxmlformats.org/drawingml/2006/main" noGrp="1"/>
          </p:cNvSpPr>
          <p:nvPr/>
        </p:nvSpPr>
        <p:spPr>
          <a:xfrm xmlns:a="http://schemas.openxmlformats.org/drawingml/2006/main">
            <a:off x="3257550" y="48577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Fund the move from validated pilot to production infrastructure.</a:t>
            </a:r>
          </a:p>
        </p:txBody>
      </p:sp>
      <p:sp>
        <p:nvSpPr>
          <p:cNvPr id="13" name="">
            <a:extLst xmlns:a="http://schemas.openxmlformats.org/drawingml/2006/main">
              <a:ext uri="{FF2B5EF4-FFF2-40B4-BE49-F238E27FC236}">
                <a16:creationId xmlns:a16="http://schemas.microsoft.com/office/drawing/2014/main" id="{CE27CE5B-D3A3-4D03-8255-35F05B6DA71B}"/>
              </a:ext>
            </a:extLst>
          </p:cNvPr>
          <p:cNvSpPr>
            <a:spLocks xmlns:a="http://schemas.openxmlformats.org/drawingml/2006/main" noGrp="1"/>
          </p:cNvSpPr>
          <p:nvPr/>
        </p:nvSpPr>
        <p:spPr>
          <a:xfrm xmlns:a="http://schemas.openxmlformats.org/drawingml/2006/main">
            <a:off x="9029700" y="1428750"/>
            <a:ext cx="2476500" cy="1562100"/>
          </a:xfrm>
          <a:prstGeom xmlns:a="http://schemas.openxmlformats.org/drawingml/2006/main" prst="roundRect">
            <a:avLst>
              <a:gd name="adj" fmla="val 13415"/>
            </a:avLst>
          </a:prstGeom>
          <a:solidFill xmlns:a="http://schemas.openxmlformats.org/drawingml/2006/main">
            <a:srgbClr val="F1F4E9"/>
          </a:solidFill>
          <a:ln xmlns:a="http://schemas.openxmlformats.org/drawingml/2006/main" w="9525">
            <a:solidFill>
              <a:srgbClr val="C9D2C5"/>
            </a:solidFill>
          </a:ln>
        </p:spPr>
      </p:sp>
      <p:sp>
        <p:nvSpPr>
          <p:cNvPr id="14" name="">
            <a:extLst xmlns:a="http://schemas.openxmlformats.org/drawingml/2006/main">
              <a:ext uri="{FF2B5EF4-FFF2-40B4-BE49-F238E27FC236}">
                <a16:creationId xmlns:a16="http://schemas.microsoft.com/office/drawing/2014/main" id="{AACD8275-DE34-4FF8-8327-9B61FD29973D}"/>
              </a:ext>
            </a:extLst>
          </p:cNvPr>
          <p:cNvSpPr>
            <a:spLocks xmlns:a="http://schemas.openxmlformats.org/drawingml/2006/main" noGrp="1"/>
          </p:cNvSpPr>
          <p:nvPr/>
        </p:nvSpPr>
        <p:spPr>
          <a:xfrm xmlns:a="http://schemas.openxmlformats.org/drawingml/2006/main">
            <a:off x="9277350" y="1657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CURRENT STATUS</a:t>
            </a:r>
          </a:p>
        </p:txBody>
      </p:sp>
      <p:sp>
        <p:nvSpPr>
          <p:cNvPr id="15" name="">
            <a:extLst xmlns:a="http://schemas.openxmlformats.org/drawingml/2006/main">
              <a:ext uri="{FF2B5EF4-FFF2-40B4-BE49-F238E27FC236}">
                <a16:creationId xmlns:a16="http://schemas.microsoft.com/office/drawing/2014/main" id="{495DB245-8635-4383-85B8-F37056035C68}"/>
              </a:ext>
            </a:extLst>
          </p:cNvPr>
          <p:cNvSpPr>
            <a:spLocks xmlns:a="http://schemas.openxmlformats.org/drawingml/2006/main" noGrp="1"/>
          </p:cNvSpPr>
          <p:nvPr/>
        </p:nvSpPr>
        <p:spPr>
          <a:xfrm xmlns:a="http://schemas.openxmlformats.org/drawingml/2006/main">
            <a:off x="9277350" y="203835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462"/>
          </a:bodyPr>
          <a:lstStyle xmlns:a="http://schemas.openxmlformats.org/drawingml/2006/main"/>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Creator accounts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Multi-role pilot demo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Phyllo sandbox configured</a:t>
            </a:r>
          </a:p>
        </p:txBody>
      </p:sp>
      <p:sp>
        <p:nvSpPr>
          <p:cNvPr id="16" name="">
            <a:extLst xmlns:a="http://schemas.openxmlformats.org/drawingml/2006/main">
              <a:ext uri="{FF2B5EF4-FFF2-40B4-BE49-F238E27FC236}">
                <a16:creationId xmlns:a16="http://schemas.microsoft.com/office/drawing/2014/main" id="{63CF7219-570F-439A-ACA5-43C38DAB7571}"/>
              </a:ext>
            </a:extLst>
          </p:cNvPr>
          <p:cNvSpPr>
            <a:spLocks xmlns:a="http://schemas.openxmlformats.org/drawingml/2006/main" noGrp="1"/>
          </p:cNvSpPr>
          <p:nvPr/>
        </p:nvSpPr>
        <p:spPr>
          <a:xfrm xmlns:a="http://schemas.openxmlformats.org/drawingml/2006/main">
            <a:off x="628650" y="607695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reamogetswemolefe@creatorcashflow.co.za</a:t>
            </a:r>
          </a:p>
        </p:txBody>
      </p:sp>
      <p:sp>
        <p:nvSpPr>
          <p:cNvPr id="17" name="">
            <a:extLst xmlns:a="http://schemas.openxmlformats.org/drawingml/2006/main">
              <a:ext uri="{FF2B5EF4-FFF2-40B4-BE49-F238E27FC236}">
                <a16:creationId xmlns:a16="http://schemas.microsoft.com/office/drawing/2014/main" id="{7EFB4114-B3F2-4709-B08C-8FD76AF125D6}"/>
              </a:ext>
            </a:extLst>
          </p:cNvPr>
          <p:cNvSpPr>
            <a:spLocks xmlns:a="http://schemas.openxmlformats.org/drawingml/2006/main" noGrp="1"/>
          </p:cNvSpPr>
          <p:nvPr/>
        </p:nvSpPr>
        <p:spPr>
          <a:xfrm xmlns:a="http://schemas.openxmlformats.org/drawingml/2006/main">
            <a:off x="6838950" y="60769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r">
              <a:defRPr sz="1350" b="0">
                <a:solidFill>
                  <a:srgbClr val="A4B09F"/>
                </a:solidFill>
                <a:latin typeface="Arial"/>
                <a:ea typeface="Arial"/>
                <a:cs typeface="Arial"/>
              </a:defRPr>
            </a:pPr>
            <a:r>
              <a:rPr sz="1350" b="0">
                <a:solidFill>
                  <a:srgbClr val="A4B09F"/>
                </a:solidFill>
                <a:latin typeface="Arial"/>
                <a:ea typeface="Arial"/>
                <a:cs typeface="Arial"/>
              </a:rPr>
              <a:t>creator-cash-flow-ccf.onrender.com</a:t>
            </a:r>
          </a:p>
        </p:txBody>
      </p:sp>
    </p:spTree>
    <p:extLst>
      <p:ext uri="{BB962C8B-B14F-4D97-AF65-F5344CB8AC3E}">
        <p14:creationId xmlns:p14="http://schemas.microsoft.com/office/powerpoint/2010/main" val="6061932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2026-09-09T21:27:21.3590000Z</dcterms:created>
  <dcterms:modified xsi:type="dcterms:W3CDTF">2026-09-09T21:27:21.3590000Z</dcterms:modified>
</coreProperties>
</file>